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89" r:id="rId6"/>
    <p:sldId id="258" r:id="rId7"/>
    <p:sldId id="257" r:id="rId8"/>
    <p:sldId id="259" r:id="rId9"/>
    <p:sldId id="265" r:id="rId10"/>
    <p:sldId id="287" r:id="rId11"/>
    <p:sldId id="260" r:id="rId12"/>
    <p:sldId id="284" r:id="rId13"/>
    <p:sldId id="285" r:id="rId14"/>
    <p:sldId id="282" r:id="rId15"/>
    <p:sldId id="283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186352-7DB5-4755-AC77-59FEEC66F9C5}" v="3" dt="2026-09-29T10:57:13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45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7B9B5-4246-804E-98F9-9CD4100D6A0E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44068-2D3F-C64D-A820-7E853F1F2DF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0891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A524-1379-1595-DE0B-0D5D35B5B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483BB-E8B8-1035-2BD6-A388D495F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7ACF-4951-177B-E9A9-D1893708F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AB14-16F9-AA25-368E-FD3EA4FF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0C59B-AAD5-BD85-C0D5-8589F291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145209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0F20-2517-AE29-2333-E41EBAC4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0E0B-8700-0EED-F5E0-C7F9FE557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DB217-39C4-7F87-258C-97215A04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66DDE-6A1B-232E-15CB-A8DD1CC2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D4481-8A15-6650-F608-C057CD0A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281456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E5A6-898F-A86A-B0E2-31F2F3C9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22E43-2BFE-2729-B579-B041C6255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A93E6-CC5A-FD71-9305-E265B50D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D1C3B-5826-520D-F973-71BC34D6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AFDAA-9BC3-C509-9082-2387E666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94605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1647-5F2D-8650-8F71-14EE5304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12D0D-A498-3A4F-A1F3-7DFE4D93A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67708-D359-9BC9-6E30-37B81724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354AA-B867-7844-A22A-A86FE898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68390-61E4-DE2A-A99A-762941E01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038C4-1A42-FE72-D62D-867B5EFC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679019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0E76-A9EE-42B3-0051-EB757523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DD10C-829F-F54B-EA2B-405DB2723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96A15-4385-4F75-52BC-4A56D54DE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F573B-FED7-2933-E932-4399C4CF0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832F8-49D3-36E5-9B23-3C676312E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1700C-1941-EE5F-0523-65F98E6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F567A-126A-5F68-635E-FD0077AD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DFEBD-787C-8856-E2FB-C6599E7C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708788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56F7-A258-E9BF-B056-F641FEBE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1FD5C-8805-D579-A03F-1DAACEB6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D45D9-B945-816A-EFD5-D7578C98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F94D6-6DAA-F38D-9BF8-E1B78B483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7856434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7539-3521-D547-D4D7-01856E0A1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27428-8A1A-7D79-6B04-CC48D7C5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B863D-D320-EC1F-5D50-02121A3D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559577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B1B5B-5965-A563-DF3E-AE3BE7D52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8B29-B942-5915-1C73-C37AD0550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F4D67-6A91-6D09-7F86-6A64D2974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D96DB-1C8B-CA83-1617-63B5CA80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8B07F-1E83-6371-2D67-567EE7C4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FEC9F-2700-A071-D02D-10ECE51F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978693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8305-D67A-9736-D2C0-6AE4B28C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0C961-F617-D4EF-A23E-6AE0A2F60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BFF08-19FF-8B46-7B11-7D10656EC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A058F-16AD-C15B-139F-E5349885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1553A-548B-7896-1780-9B5E0307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167E6-381F-87D6-9961-A2451D33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118462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9242F-D691-6A68-CAA6-E8A2C766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949A1-83EB-C6A7-A14F-ECF87696A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C61C5-9265-1C2D-A756-19195CFA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B14E4-1647-0CA7-B203-BA3B1F8E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AB2E9-0280-D9E5-B976-C5C49D75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6006805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C8D2FC-492B-102E-A66A-3197DFBC2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C406-2A87-8884-CE14-B4784D04B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AD28D-AF83-3049-9BEE-566B9068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5B8C3-DD61-AF36-F165-ABC53EF3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E9D46-4385-596E-DA31-743CA1CE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27668073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53083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D6E5-EC64-DDE4-8A98-4CF03266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9AFAF-46FE-5175-3275-BC7B984D2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4FA6D-CFC9-4ABC-5DF5-5EF8DF780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4BC59-5F79-3345-A6F7-B2BC34D26F4F}" type="datetimeFigureOut">
              <a:rPr lang="en-PK" smtClean="0"/>
              <a:t>09/29/2026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2A8A0-A670-CCF8-18D8-0DE18C264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6E791-6180-256B-706A-9BD163C47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019B-3F4D-9049-A4C2-FF89FB491E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07963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peris.com/wp-content/uploads/resources-pdfs/reports/resources-semperis-ransomware-holiday-risk-report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E5D3C12-F1E2-F312-EC93-79A6A7C1D670}"/>
              </a:ext>
            </a:extLst>
          </p:cNvPr>
          <p:cNvSpPr txBox="1"/>
          <p:nvPr/>
        </p:nvSpPr>
        <p:spPr>
          <a:xfrm>
            <a:off x="401320" y="3757325"/>
            <a:ext cx="4983756" cy="1732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20"/>
              </a:lnSpc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</a:p>
          <a:p>
            <a:pPr>
              <a:lnSpc>
                <a:spcPts val="1820"/>
              </a:lnSpc>
            </a:pPr>
            <a:endParaRPr lang="en-US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514350" indent="-514350">
              <a:lnSpc>
                <a:spcPts val="1820"/>
              </a:lnSpc>
              <a:buFont typeface="+mj-lt"/>
              <a:buAutoNum type="romanU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Daniyal (2023406) </a:t>
            </a:r>
          </a:p>
          <a:p>
            <a:pPr marL="514350" indent="-514350">
              <a:lnSpc>
                <a:spcPts val="1820"/>
              </a:lnSpc>
              <a:buFont typeface="+mj-lt"/>
              <a:buAutoNum type="romanUcPeriod"/>
            </a:pPr>
            <a:endParaRPr lang="en-US" sz="20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514350" indent="-514350">
              <a:lnSpc>
                <a:spcPts val="1820"/>
              </a:lnSpc>
              <a:buFont typeface="+mj-lt"/>
              <a:buAutoNum type="romanU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Haider Iqbal (2023416)</a:t>
            </a:r>
          </a:p>
          <a:p>
            <a:pPr marL="514350" indent="-514350">
              <a:lnSpc>
                <a:spcPts val="1820"/>
              </a:lnSpc>
              <a:buFont typeface="+mj-lt"/>
              <a:buAutoNum type="romanUcPeriod"/>
            </a:pPr>
            <a:endParaRPr lang="en-US" sz="20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514350" indent="-514350">
              <a:lnSpc>
                <a:spcPts val="1820"/>
              </a:lnSpc>
              <a:buFont typeface="+mj-lt"/>
              <a:buAutoNum type="romanU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Syed Daud (2023677)</a:t>
            </a:r>
            <a:endParaRPr lang="en-US" sz="2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123D12A-2AF9-2F43-30AD-DFE3D94EBC46}"/>
              </a:ext>
            </a:extLst>
          </p:cNvPr>
          <p:cNvSpPr/>
          <p:nvPr/>
        </p:nvSpPr>
        <p:spPr>
          <a:xfrm>
            <a:off x="7069592" y="4052337"/>
            <a:ext cx="5704517" cy="1142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40"/>
              </a:lnSpc>
              <a:buNone/>
            </a:pPr>
            <a:endParaRPr lang="en-US" sz="2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540"/>
              </a:lnSpc>
              <a:buNone/>
            </a:pPr>
            <a:endParaRPr lang="en-US" sz="2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54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Dr. Muhammad Fawad Khan</a:t>
            </a:r>
          </a:p>
          <a:p>
            <a:pPr marL="0" indent="0">
              <a:lnSpc>
                <a:spcPts val="1540"/>
              </a:lnSpc>
              <a:buNone/>
            </a:pPr>
            <a:endParaRPr lang="en-US" sz="20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54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Co-Supervisor: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Hadia Abbas</a:t>
            </a:r>
            <a:endParaRPr lang="en-US" sz="20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19625D0-01ED-78AC-C59A-F61F4F32F84B}"/>
              </a:ext>
            </a:extLst>
          </p:cNvPr>
          <p:cNvSpPr/>
          <p:nvPr/>
        </p:nvSpPr>
        <p:spPr>
          <a:xfrm>
            <a:off x="3777895" y="6070019"/>
            <a:ext cx="4983755" cy="51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endParaRPr lang="en-US" sz="2000" i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540"/>
              </a:lnSpc>
              <a:buNone/>
            </a:pPr>
            <a:r>
              <a:rPr lang="en-US" sz="2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Cybersecurity, FCSE, GIKI</a:t>
            </a:r>
            <a:endParaRPr lang="en-US" sz="2400" b="1" i="1" dirty="0"/>
          </a:p>
        </p:txBody>
      </p:sp>
      <p:pic>
        <p:nvPicPr>
          <p:cNvPr id="20" name="Picture 19" descr="Official Socialmedia Accounts of GIKI - Ghulam Ishaq Khan ...">
            <a:extLst>
              <a:ext uri="{FF2B5EF4-FFF2-40B4-BE49-F238E27FC236}">
                <a16:creationId xmlns:a16="http://schemas.microsoft.com/office/drawing/2014/main" id="{8FFCA6B6-2818-3563-3052-6FB7CCFF0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9" y="77957"/>
            <a:ext cx="1420046" cy="14200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162F66-E282-9A0B-2B76-E8599CD25CF4}"/>
              </a:ext>
            </a:extLst>
          </p:cNvPr>
          <p:cNvSpPr txBox="1"/>
          <p:nvPr/>
        </p:nvSpPr>
        <p:spPr>
          <a:xfrm>
            <a:off x="968368" y="2517437"/>
            <a:ext cx="10602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An AI triage assistant that adapts to how busy the security team 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36C0C-44D9-F497-1469-69672676B14D}"/>
              </a:ext>
            </a:extLst>
          </p:cNvPr>
          <p:cNvSpPr txBox="1"/>
          <p:nvPr/>
        </p:nvSpPr>
        <p:spPr>
          <a:xfrm>
            <a:off x="2105498" y="664346"/>
            <a:ext cx="83285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Autonomous Response System for </a:t>
            </a:r>
          </a:p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SOC ( Security Operation Centre)</a:t>
            </a:r>
          </a:p>
        </p:txBody>
      </p:sp>
    </p:spTree>
    <p:extLst>
      <p:ext uri="{BB962C8B-B14F-4D97-AF65-F5344CB8AC3E}">
        <p14:creationId xmlns:p14="http://schemas.microsoft.com/office/powerpoint/2010/main" val="268833337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BDBB-C18B-7F7C-F497-C937E16E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What Is a SOC?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EF58-CD31-B210-BA88-AAB98D26F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819C39-BCB6-AB75-CCA9-BD3592AD44A4}"/>
              </a:ext>
            </a:extLst>
          </p:cNvPr>
          <p:cNvSpPr/>
          <p:nvPr/>
        </p:nvSpPr>
        <p:spPr>
          <a:xfrm>
            <a:off x="1491916" y="2245895"/>
            <a:ext cx="2454442" cy="234214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GB" sz="2800" b="1" dirty="0">
                <a:solidFill>
                  <a:srgbClr val="042433"/>
                </a:solidFill>
              </a:rPr>
              <a:t>Alert</a:t>
            </a:r>
          </a:p>
          <a:p>
            <a:pPr algn="ctr"/>
            <a:r>
              <a:rPr lang="en-GB" sz="1300" dirty="0">
                <a:solidFill>
                  <a:srgbClr val="042433"/>
                </a:solidFill>
              </a:rPr>
              <a:t>A security tool flags something suspicious.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214059-801A-76A7-454F-AF8EB226F686}"/>
              </a:ext>
            </a:extLst>
          </p:cNvPr>
          <p:cNvSpPr/>
          <p:nvPr/>
        </p:nvSpPr>
        <p:spPr>
          <a:xfrm>
            <a:off x="8173453" y="2245894"/>
            <a:ext cx="2454442" cy="234214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GB" sz="2800" b="1" dirty="0">
                <a:solidFill>
                  <a:srgbClr val="042433"/>
                </a:solidFill>
              </a:rPr>
              <a:t>Triage</a:t>
            </a:r>
          </a:p>
          <a:p>
            <a:pPr algn="ctr"/>
            <a:r>
              <a:rPr lang="en-GB" sz="1300" dirty="0">
                <a:solidFill>
                  <a:srgbClr val="042433"/>
                </a:solidFill>
              </a:rPr>
              <a:t>Deciding: real threat or false alarm, and what gets looked at first.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E45555-D034-C95C-0BB8-565B48943FA5}"/>
              </a:ext>
            </a:extLst>
          </p:cNvPr>
          <p:cNvSpPr/>
          <p:nvPr/>
        </p:nvSpPr>
        <p:spPr>
          <a:xfrm>
            <a:off x="4832684" y="2257926"/>
            <a:ext cx="2454442" cy="234214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GB" sz="2800" b="1" dirty="0">
                <a:solidFill>
                  <a:srgbClr val="042433"/>
                </a:solidFill>
              </a:rPr>
              <a:t>SOC</a:t>
            </a:r>
          </a:p>
          <a:p>
            <a:pPr algn="ctr"/>
            <a:r>
              <a:rPr lang="en-GB" sz="1300" dirty="0">
                <a:solidFill>
                  <a:srgbClr val="042433"/>
                </a:solidFill>
              </a:rPr>
              <a:t>The team of analysts who check those alerts.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EDE6755-19B3-4BA8-868A-4B17B2BF1DDD}"/>
              </a:ext>
            </a:extLst>
          </p:cNvPr>
          <p:cNvSpPr/>
          <p:nvPr/>
        </p:nvSpPr>
        <p:spPr>
          <a:xfrm>
            <a:off x="4013200" y="3187700"/>
            <a:ext cx="749300" cy="457200"/>
          </a:xfrm>
          <a:prstGeom prst="rightArrow">
            <a:avLst/>
          </a:prstGeom>
          <a:solidFill>
            <a:srgbClr val="0424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32F02D-0378-4EF9-9274-643EFBE10FE2}"/>
              </a:ext>
            </a:extLst>
          </p:cNvPr>
          <p:cNvSpPr/>
          <p:nvPr/>
        </p:nvSpPr>
        <p:spPr>
          <a:xfrm>
            <a:off x="7353300" y="3187700"/>
            <a:ext cx="749300" cy="457200"/>
          </a:xfrm>
          <a:prstGeom prst="rightArrow">
            <a:avLst/>
          </a:prstGeom>
          <a:solidFill>
            <a:srgbClr val="0424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FA8AC-CF89-4578-B4C8-BB8D6118B269}"/>
              </a:ext>
            </a:extLst>
          </p:cNvPr>
          <p:cNvSpPr txBox="1"/>
          <p:nvPr/>
        </p:nvSpPr>
        <p:spPr>
          <a:xfrm>
            <a:off x="838200" y="4724400"/>
            <a:ext cx="1051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042433"/>
                </a:solidFill>
              </a:rPr>
              <a:t>In short: Tools raise alerts, analysts check them, and triage decides which get attention first.</a:t>
            </a:r>
            <a:endParaRPr lang="en-GB" sz="1600" i="1">
              <a:solidFill>
                <a:srgbClr val="04243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1FC29-5E6C-4878-8AAC-CAE335B3125B}"/>
              </a:ext>
            </a:extLst>
          </p:cNvPr>
          <p:cNvSpPr txBox="1"/>
          <p:nvPr/>
        </p:nvSpPr>
        <p:spPr>
          <a:xfrm>
            <a:off x="838200" y="54610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95959"/>
                </a:solidFill>
              </a:rPr>
              <a:t>SIEM = the dashboard where alerts arrive (e.g., Splunk).</a:t>
            </a:r>
            <a:endParaRPr lang="en-GB" sz="11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48500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64156" y="1502327"/>
            <a:ext cx="9254494" cy="788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Low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Modern security tools are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continuously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detecting threats, but a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SOC team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struggles to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keep up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with the alerts being generated.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5759" y="5742670"/>
            <a:ext cx="11663361" cy="11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Low">
              <a:buFont typeface="Arial" panose="020B0604020202020204" pitchFamily="34" charset="0"/>
              <a:buChar char="•"/>
            </a:pPr>
            <a:r>
              <a:rPr lang="en-GB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Tariq, S., Baruwal Chhetri, M., Nepal, S., &amp; Paris, C. (2025). Alert fatigue in security operations centres: Research challenges and opportunities. </a:t>
            </a:r>
            <a:r>
              <a:rPr lang="en-GB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ACM Computing Surveys</a:t>
            </a:r>
            <a:r>
              <a:rPr lang="en-GB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57</a:t>
            </a:r>
            <a:r>
              <a:rPr lang="en-GB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(9), 1-38.</a:t>
            </a:r>
          </a:p>
          <a:p>
            <a:pPr marL="171450" indent="-171450" algn="justLow">
              <a:buFont typeface="Arial" panose="020B0604020202020204" pitchFamily="34" charset="0"/>
              <a:buChar char="•"/>
            </a:pPr>
            <a:endParaRPr lang="en-GB" sz="1400" b="0" i="1" u="none" strike="noStrike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171450" indent="-171450" algn="justLow">
              <a:buFont typeface="Arial" panose="020B0604020202020204" pitchFamily="34" charset="0"/>
              <a:buChar char="•"/>
            </a:pPr>
            <a:r>
              <a:rPr lang="en-GB" sz="1400" i="1" dirty="0" err="1"/>
              <a:t>Semperis</a:t>
            </a:r>
            <a:r>
              <a:rPr lang="en-GB" sz="1400" i="1" dirty="0"/>
              <a:t>. (2025). 2025 ransomware holiday risk report. </a:t>
            </a:r>
            <a:r>
              <a:rPr lang="en-GB" sz="1400" i="1" dirty="0">
                <a:effectLst/>
                <a:hlinkClick r:id="rId3"/>
              </a:rPr>
              <a:t>https://www.semperis.com/wp-content/uploads/resources-pdfs/reports/resources-semperis-ransomware-holiday-risk-report.pdf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90674" y="4910312"/>
            <a:ext cx="8076682" cy="668242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960"/>
              </a:lnSpc>
            </a:pPr>
            <a:endParaRPr lang="en-GB" sz="2400" b="1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ts val="1960"/>
              </a:lnSpc>
            </a:pPr>
            <a:r>
              <a:rPr lang="en-GB" sz="2400" b="1" dirty="0">
                <a:solidFill>
                  <a:schemeClr val="bg1"/>
                </a:solidFill>
                <a:latin typeface="+mj-lt"/>
              </a:rPr>
              <a:t>If detection works, why are alerts still going unattended?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Picture 8" descr="Official Socialmedia Accounts of GIKI - Ghulam Ishaq Khan ...">
            <a:extLst>
              <a:ext uri="{FF2B5EF4-FFF2-40B4-BE49-F238E27FC236}">
                <a16:creationId xmlns:a16="http://schemas.microsoft.com/office/drawing/2014/main" id="{0697BD2A-E78E-344C-AB1C-0CAC3EF7C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07F510-DA02-29E6-A5D8-1F71316EA641}"/>
              </a:ext>
            </a:extLst>
          </p:cNvPr>
          <p:cNvSpPr txBox="1"/>
          <p:nvPr/>
        </p:nvSpPr>
        <p:spPr>
          <a:xfrm>
            <a:off x="3986702" y="276857"/>
            <a:ext cx="45703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6000" b="1" dirty="0"/>
              <a:t>The Problem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6B12FB-B085-7DF4-D7F6-8FEB0B749B85}"/>
              </a:ext>
            </a:extLst>
          </p:cNvPr>
          <p:cNvGrpSpPr/>
          <p:nvPr/>
        </p:nvGrpSpPr>
        <p:grpSpPr>
          <a:xfrm>
            <a:off x="1496560" y="2558401"/>
            <a:ext cx="9526150" cy="2190147"/>
            <a:chOff x="1866745" y="2616222"/>
            <a:chExt cx="8629652" cy="1948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89AEFDA-7A75-697C-A5B1-AA7175038D7B}"/>
                </a:ext>
              </a:extLst>
            </p:cNvPr>
            <p:cNvSpPr/>
            <p:nvPr/>
          </p:nvSpPr>
          <p:spPr>
            <a:xfrm>
              <a:off x="1866745" y="2618693"/>
              <a:ext cx="1928813" cy="1928813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51% </a:t>
              </a:r>
              <a:r>
                <a:rPr lang="en-US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 SOC teams report feeling overwhelmed by alert volume.</a:t>
              </a:r>
              <a:endParaRPr lang="en-US" dirty="0"/>
            </a:p>
            <a:p>
              <a:endParaRPr lang="en-PK" dirty="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14BFC8E-8447-FE10-B76D-200A290EEB33}"/>
                </a:ext>
              </a:extLst>
            </p:cNvPr>
            <p:cNvSpPr/>
            <p:nvPr/>
          </p:nvSpPr>
          <p:spPr>
            <a:xfrm>
              <a:off x="8567584" y="2632981"/>
              <a:ext cx="1928813" cy="1928813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GB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52%</a:t>
              </a:r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surveyed organizations reported ransomware targeting during weekends and holidays.</a:t>
              </a:r>
            </a:p>
            <a:p>
              <a:endParaRPr lang="en-PK" dirty="0">
                <a:solidFill>
                  <a:schemeClr val="tx1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B9B8DBC-3AAF-93FB-B2AD-C6CD98A3C3F3}"/>
                </a:ext>
              </a:extLst>
            </p:cNvPr>
            <p:cNvSpPr/>
            <p:nvPr/>
          </p:nvSpPr>
          <p:spPr>
            <a:xfrm>
              <a:off x="6333971" y="2636326"/>
              <a:ext cx="1928813" cy="1928813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78% </a:t>
              </a:r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companies cut</a:t>
              </a:r>
              <a:r>
                <a:rPr lang="en-GB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50%+</a:t>
              </a:r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SOC staffing on weekends and holidays.</a:t>
              </a:r>
            </a:p>
            <a:p>
              <a:endParaRPr lang="en-PK" dirty="0">
                <a:solidFill>
                  <a:schemeClr val="tx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2B8DACB-42B4-E0B3-D087-7469BB23865A}"/>
                </a:ext>
              </a:extLst>
            </p:cNvPr>
            <p:cNvSpPr/>
            <p:nvPr/>
          </p:nvSpPr>
          <p:spPr>
            <a:xfrm>
              <a:off x="4100358" y="2616222"/>
              <a:ext cx="1928813" cy="1928813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49% </a:t>
              </a:r>
              <a:r>
                <a:rPr lang="en-US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 assigned alerts get resolved within a workday.</a:t>
              </a:r>
            </a:p>
            <a:p>
              <a:endParaRPr lang="en-PK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0229" y="437546"/>
            <a:ext cx="8957077" cy="705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2530"/>
              </a:lnSpc>
              <a:buNone/>
            </a:pPr>
            <a:endParaRPr lang="en-US" sz="54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253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Idea and Motivation</a:t>
            </a:r>
            <a:endParaRPr lang="en-US" sz="5400" dirty="0"/>
          </a:p>
        </p:txBody>
      </p:sp>
      <p:pic>
        <p:nvPicPr>
          <p:cNvPr id="6" name="Picture 5" descr="Official Socialmedia Accounts of GIKI - Ghulam Ishaq Khan ...">
            <a:extLst>
              <a:ext uri="{FF2B5EF4-FFF2-40B4-BE49-F238E27FC236}">
                <a16:creationId xmlns:a16="http://schemas.microsoft.com/office/drawing/2014/main" id="{9300EA5E-0F7C-8423-5BEF-5E0F5877E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9C5896-07DA-49D2-BE5F-E1F58030C16F}"/>
              </a:ext>
            </a:extLst>
          </p:cNvPr>
          <p:cNvSpPr/>
          <p:nvPr/>
        </p:nvSpPr>
        <p:spPr>
          <a:xfrm>
            <a:off x="7686791" y="1891258"/>
            <a:ext cx="1171575" cy="44367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9" name="Connector: Curved 18">
            <a:extLst>
              <a:ext uri="{FF2B5EF4-FFF2-40B4-BE49-F238E27FC236}">
                <a16:creationId xmlns:a16="http://schemas.microsoft.com/office/drawing/2014/main" id="{D3E3A55B-4E86-4ED8-8B28-CC0706DF01D0}"/>
              </a:ext>
            </a:extLst>
          </p:cNvPr>
          <p:cNvSpPr/>
          <p:nvPr/>
        </p:nvSpPr>
        <p:spPr>
          <a:xfrm>
            <a:off x="8858365" y="2162685"/>
            <a:ext cx="1700098" cy="1200327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ED832-926F-8792-551F-EEA664BB7115}"/>
              </a:ext>
            </a:extLst>
          </p:cNvPr>
          <p:cNvSpPr txBox="1"/>
          <p:nvPr/>
        </p:nvSpPr>
        <p:spPr>
          <a:xfrm>
            <a:off x="819034" y="1875558"/>
            <a:ext cx="9221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Low">
              <a:buFont typeface="Wingdings" pitchFamily="2" charset="2"/>
              <a:buChar char="Ø"/>
            </a:pPr>
            <a:r>
              <a:rPr lang="en-GB" sz="2400" dirty="0"/>
              <a:t>ARSS checks the SOC's </a:t>
            </a:r>
            <a:r>
              <a:rPr lang="en-GB" sz="2400" b="1" dirty="0"/>
              <a:t>current workload </a:t>
            </a:r>
            <a:r>
              <a:rPr lang="en-GB" sz="2400" dirty="0"/>
              <a:t>before </a:t>
            </a:r>
            <a:r>
              <a:rPr lang="en-GB" sz="2400" b="1" dirty="0"/>
              <a:t>Triaging</a:t>
            </a:r>
            <a:r>
              <a:rPr lang="en-GB" sz="2400" dirty="0"/>
              <a:t> an alert: incoming alerts, team’s capacity, backlog, and available analysts.</a:t>
            </a:r>
            <a:endParaRPr lang="en-PK" sz="2400" dirty="0"/>
          </a:p>
        </p:txBody>
      </p:sp>
      <p:sp>
        <p:nvSpPr>
          <p:cNvPr id="12" name="Snip Diagonal Corner of Rectangle 11">
            <a:extLst>
              <a:ext uri="{FF2B5EF4-FFF2-40B4-BE49-F238E27FC236}">
                <a16:creationId xmlns:a16="http://schemas.microsoft.com/office/drawing/2014/main" id="{B84DCF57-1309-0B3D-62F5-398D8E1D0489}"/>
              </a:ext>
            </a:extLst>
          </p:cNvPr>
          <p:cNvSpPr/>
          <p:nvPr/>
        </p:nvSpPr>
        <p:spPr>
          <a:xfrm>
            <a:off x="9372494" y="3363012"/>
            <a:ext cx="2700337" cy="2514600"/>
          </a:xfrm>
          <a:prstGeom prst="snip2Diag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</a:rPr>
              <a:t>Alert triage </a:t>
            </a:r>
            <a:r>
              <a:rPr lang="en-GB" dirty="0">
                <a:solidFill>
                  <a:schemeClr val="tx1"/>
                </a:solidFill>
              </a:rPr>
              <a:t>is the process of reviewing security alerts as they arrive and deciding which 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Real threats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False alarms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Which need action first.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CE0D4-9356-ACC5-14D9-3320D37D9582}"/>
              </a:ext>
            </a:extLst>
          </p:cNvPr>
          <p:cNvSpPr txBox="1"/>
          <p:nvPr/>
        </p:nvSpPr>
        <p:spPr>
          <a:xfrm>
            <a:off x="790400" y="3080513"/>
            <a:ext cx="7910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Low">
              <a:buFont typeface="Wingdings" pitchFamily="2" charset="2"/>
              <a:buChar char="Ø"/>
            </a:pPr>
            <a:r>
              <a:rPr lang="en-GB" sz="2400" dirty="0"/>
              <a:t>The </a:t>
            </a:r>
            <a:r>
              <a:rPr lang="en-GB" sz="2400" b="1" dirty="0"/>
              <a:t>same alert </a:t>
            </a:r>
            <a:r>
              <a:rPr lang="en-GB" sz="2400" dirty="0"/>
              <a:t>can receive a </a:t>
            </a:r>
            <a:r>
              <a:rPr lang="en-GB" sz="2400" b="1" dirty="0"/>
              <a:t>different response </a:t>
            </a:r>
            <a:r>
              <a:rPr lang="en-GB" sz="2400" dirty="0"/>
              <a:t>depending on the team's </a:t>
            </a:r>
            <a:r>
              <a:rPr lang="en-GB" sz="2400" b="1" dirty="0"/>
              <a:t>current capacity </a:t>
            </a:r>
            <a:r>
              <a:rPr lang="en-GB" sz="2400" dirty="0"/>
              <a:t>and type of </a:t>
            </a:r>
            <a:r>
              <a:rPr lang="en-GB" sz="2400" b="1" dirty="0"/>
              <a:t>day</a:t>
            </a:r>
            <a:r>
              <a:rPr lang="en-GB" sz="2400" dirty="0"/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E0A892-2469-E77B-99DD-0F53DA709184}"/>
              </a:ext>
            </a:extLst>
          </p:cNvPr>
          <p:cNvSpPr txBox="1"/>
          <p:nvPr/>
        </p:nvSpPr>
        <p:spPr>
          <a:xfrm>
            <a:off x="819034" y="4526794"/>
            <a:ext cx="7910628" cy="8309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justLow"/>
            <a:r>
              <a:rPr lang="en-GB" sz="2400" b="1" dirty="0">
                <a:solidFill>
                  <a:schemeClr val="bg1"/>
                </a:solidFill>
              </a:rPr>
              <a:t>Most triage systems treat every alert the same, whether the team is busy or free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C2643-1B4D-908A-E9DD-B8E66219BBC2}"/>
              </a:ext>
            </a:extLst>
          </p:cNvPr>
          <p:cNvSpPr txBox="1"/>
          <p:nvPr/>
        </p:nvSpPr>
        <p:spPr>
          <a:xfrm>
            <a:off x="790400" y="5603743"/>
            <a:ext cx="68150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Low">
              <a:buFont typeface="Wingdings" pitchFamily="2" charset="2"/>
              <a:buChar char="Ø"/>
            </a:pPr>
            <a:r>
              <a:rPr lang="en-GB" sz="2400" b="1" dirty="0"/>
              <a:t>ARSS</a:t>
            </a:r>
            <a:r>
              <a:rPr lang="en-GB" sz="2400" dirty="0"/>
              <a:t> adjusts to the </a:t>
            </a:r>
            <a:r>
              <a:rPr lang="en-GB" sz="2400" b="1" dirty="0"/>
              <a:t>team's current workload</a:t>
            </a:r>
            <a:r>
              <a:rPr lang="en-PK" sz="2400" b="1" dirty="0"/>
              <a:t> </a:t>
            </a:r>
            <a:r>
              <a:rPr lang="en-PK" sz="2400" dirty="0"/>
              <a:t>and </a:t>
            </a:r>
            <a:r>
              <a:rPr lang="en-PK" sz="2400" b="1" dirty="0"/>
              <a:t>addresses</a:t>
            </a:r>
            <a:r>
              <a:rPr lang="en-PK" sz="2400" dirty="0"/>
              <a:t> this Gap.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2334" y="382032"/>
            <a:ext cx="8027332" cy="816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2530"/>
              </a:lnSpc>
              <a:buNone/>
            </a:pPr>
            <a:endParaRPr lang="en-US" sz="6000" b="1" dirty="0">
              <a:solidFill>
                <a:srgbClr val="000000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253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The Proposed Solution</a:t>
            </a:r>
            <a:endParaRPr lang="en-US" sz="60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01600" y="1501600"/>
            <a:ext cx="9456130" cy="2256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justLow">
              <a:buFont typeface="Wingdings" pitchFamily="2" charset="2"/>
              <a:buChar char="v"/>
            </a:pPr>
            <a:r>
              <a:rPr lang="en-GB" sz="2400" dirty="0"/>
              <a:t>ARSS conditions alert triage on the SOC’s </a:t>
            </a:r>
            <a:r>
              <a:rPr lang="en-GB" sz="2400" b="1" dirty="0"/>
              <a:t>current</a:t>
            </a:r>
            <a:r>
              <a:rPr lang="en-GB" sz="2400" dirty="0"/>
              <a:t> </a:t>
            </a:r>
            <a:r>
              <a:rPr lang="en-GB" sz="2400" b="1" dirty="0"/>
              <a:t>workload</a:t>
            </a:r>
            <a:r>
              <a:rPr lang="en-GB" sz="2400" dirty="0"/>
              <a:t>.</a:t>
            </a:r>
          </a:p>
          <a:p>
            <a:pPr marL="342900" indent="-342900" algn="justLow">
              <a:buFont typeface="Wingdings" pitchFamily="2" charset="2"/>
              <a:buChar char="v"/>
            </a:pPr>
            <a:endParaRPr lang="en-GB" sz="2400" dirty="0"/>
          </a:p>
          <a:p>
            <a:pPr marL="342900" indent="-342900" algn="justLow">
              <a:buFont typeface="Wingdings" pitchFamily="2" charset="2"/>
              <a:buChar char="v"/>
            </a:pPr>
            <a:r>
              <a:rPr lang="en-GB" sz="2400" dirty="0"/>
              <a:t>It evaluates </a:t>
            </a:r>
            <a:r>
              <a:rPr lang="en-GB" sz="2400" b="1" dirty="0"/>
              <a:t>alert risk </a:t>
            </a:r>
            <a:r>
              <a:rPr lang="en-GB" sz="2400" dirty="0"/>
              <a:t>together with the </a:t>
            </a:r>
            <a:r>
              <a:rPr lang="en-GB" sz="2400" b="1" dirty="0"/>
              <a:t>current SOC state</a:t>
            </a:r>
            <a:r>
              <a:rPr lang="en-GB" sz="2400" dirty="0"/>
              <a:t>, rather than treating every alert </a:t>
            </a:r>
            <a:r>
              <a:rPr lang="en-GB" sz="2400" b="1" dirty="0"/>
              <a:t>independently</a:t>
            </a:r>
            <a:r>
              <a:rPr lang="en-GB" sz="2400" dirty="0"/>
              <a:t>.</a:t>
            </a:r>
          </a:p>
          <a:p>
            <a:pPr marL="342900" indent="-342900" algn="just">
              <a:buFont typeface="Wingdings" pitchFamily="2" charset="2"/>
              <a:buChar char="v"/>
            </a:pPr>
            <a:endParaRPr lang="en-GB" sz="2400" dirty="0"/>
          </a:p>
          <a:p>
            <a:pPr marL="342900" indent="-342900" algn="just">
              <a:buFont typeface="Wingdings" pitchFamily="2" charset="2"/>
              <a:buChar char="v"/>
            </a:pPr>
            <a:r>
              <a:rPr lang="en-GB" sz="2400" dirty="0"/>
              <a:t>Based on these inputs, ARSS can:</a:t>
            </a:r>
          </a:p>
        </p:txBody>
      </p:sp>
      <p:pic>
        <p:nvPicPr>
          <p:cNvPr id="4" name="Picture 3" descr="Official Socialmedia Accounts of GIKI - Ghulam Ishaq Khan ...">
            <a:extLst>
              <a:ext uri="{FF2B5EF4-FFF2-40B4-BE49-F238E27FC236}">
                <a16:creationId xmlns:a16="http://schemas.microsoft.com/office/drawing/2014/main" id="{ACF9C2FF-A390-01F5-DCA3-ADDE4B44D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7CF789-93E8-5251-7DC9-0AD3BB96AF0B}"/>
              </a:ext>
            </a:extLst>
          </p:cNvPr>
          <p:cNvSpPr txBox="1"/>
          <p:nvPr/>
        </p:nvSpPr>
        <p:spPr>
          <a:xfrm>
            <a:off x="1501601" y="5829292"/>
            <a:ext cx="9456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Low">
              <a:buFont typeface="Wingdings" pitchFamily="2" charset="2"/>
              <a:buChar char="v"/>
            </a:pPr>
            <a:r>
              <a:rPr lang="en-GB" sz="2400" dirty="0"/>
              <a:t>A hard </a:t>
            </a:r>
            <a:r>
              <a:rPr lang="en-GB" sz="2400" b="1" dirty="0"/>
              <a:t>severity floor </a:t>
            </a:r>
            <a:r>
              <a:rPr lang="en-GB" sz="2400" dirty="0"/>
              <a:t>ensures </a:t>
            </a:r>
            <a:r>
              <a:rPr lang="en-GB" sz="2400" b="1" dirty="0"/>
              <a:t>high-severity</a:t>
            </a:r>
            <a:r>
              <a:rPr lang="en-GB" sz="2400" dirty="0"/>
              <a:t> </a:t>
            </a:r>
            <a:r>
              <a:rPr lang="en-GB" sz="2400" b="1" dirty="0"/>
              <a:t>alerts</a:t>
            </a:r>
            <a:r>
              <a:rPr lang="en-GB" sz="2400" dirty="0"/>
              <a:t> are always </a:t>
            </a:r>
            <a:r>
              <a:rPr lang="en-GB" sz="2400" b="1" dirty="0"/>
              <a:t>escalated</a:t>
            </a:r>
            <a:r>
              <a:rPr lang="en-GB" sz="2400" dirty="0"/>
              <a:t> to a human, </a:t>
            </a:r>
            <a:r>
              <a:rPr lang="en-GB" sz="2400" b="1" dirty="0"/>
              <a:t>regardless</a:t>
            </a:r>
            <a:r>
              <a:rPr lang="en-GB" sz="2400" dirty="0"/>
              <a:t> of workload.</a:t>
            </a:r>
          </a:p>
        </p:txBody>
      </p:sp>
      <p:sp>
        <p:nvSpPr>
          <p:cNvPr id="6" name="Off-page Connector 5">
            <a:extLst>
              <a:ext uri="{FF2B5EF4-FFF2-40B4-BE49-F238E27FC236}">
                <a16:creationId xmlns:a16="http://schemas.microsoft.com/office/drawing/2014/main" id="{E7199D2F-609B-7885-0C32-518436A297B5}"/>
              </a:ext>
            </a:extLst>
          </p:cNvPr>
          <p:cNvSpPr/>
          <p:nvPr/>
        </p:nvSpPr>
        <p:spPr>
          <a:xfrm>
            <a:off x="3143251" y="3943351"/>
            <a:ext cx="1531704" cy="1871662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PK" sz="2000" b="1" dirty="0">
                <a:solidFill>
                  <a:schemeClr val="tx1"/>
                </a:solidFill>
              </a:rPr>
              <a:t>Auto Close</a:t>
            </a:r>
          </a:p>
          <a:p>
            <a:endParaRPr lang="en-GB" b="1" dirty="0"/>
          </a:p>
          <a:p>
            <a:pPr algn="ctr"/>
            <a:r>
              <a:rPr lang="en-GB" dirty="0">
                <a:solidFill>
                  <a:schemeClr val="tx1"/>
                </a:solidFill>
              </a:rPr>
              <a:t>Close it </a:t>
            </a:r>
          </a:p>
          <a:p>
            <a:pPr algn="ctr"/>
            <a:r>
              <a:rPr lang="en-GB" sz="1700" dirty="0">
                <a:solidFill>
                  <a:schemeClr val="tx1"/>
                </a:solidFill>
              </a:rPr>
              <a:t>automatically</a:t>
            </a:r>
            <a:endParaRPr lang="en-PK" sz="1700" dirty="0">
              <a:solidFill>
                <a:schemeClr val="tx1"/>
              </a:solidFill>
            </a:endParaRPr>
          </a:p>
        </p:txBody>
      </p:sp>
      <p:sp>
        <p:nvSpPr>
          <p:cNvPr id="8" name="Off-page Connector 7">
            <a:extLst>
              <a:ext uri="{FF2B5EF4-FFF2-40B4-BE49-F238E27FC236}">
                <a16:creationId xmlns:a16="http://schemas.microsoft.com/office/drawing/2014/main" id="{0EE8A38C-47A7-304C-BB02-8C875611209F}"/>
              </a:ext>
            </a:extLst>
          </p:cNvPr>
          <p:cNvSpPr/>
          <p:nvPr/>
        </p:nvSpPr>
        <p:spPr>
          <a:xfrm>
            <a:off x="7379294" y="3943350"/>
            <a:ext cx="1442991" cy="1871661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PK" sz="2000" b="1" dirty="0">
                <a:solidFill>
                  <a:schemeClr val="tx1"/>
                </a:solidFill>
              </a:rPr>
              <a:t>Escalate</a:t>
            </a:r>
          </a:p>
          <a:p>
            <a:pPr algn="ctr"/>
            <a:endParaRPr lang="en-PK" b="1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Send it to a human right now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9" name="Off-page Connector 8">
            <a:extLst>
              <a:ext uri="{FF2B5EF4-FFF2-40B4-BE49-F238E27FC236}">
                <a16:creationId xmlns:a16="http://schemas.microsoft.com/office/drawing/2014/main" id="{1040EF25-8C62-6327-2937-2AC1AF553AB8}"/>
              </a:ext>
            </a:extLst>
          </p:cNvPr>
          <p:cNvSpPr/>
          <p:nvPr/>
        </p:nvSpPr>
        <p:spPr>
          <a:xfrm>
            <a:off x="5308413" y="3943351"/>
            <a:ext cx="1442991" cy="1871662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PK" sz="2000" b="1" dirty="0">
                <a:solidFill>
                  <a:schemeClr val="tx1"/>
                </a:solidFill>
              </a:rPr>
              <a:t>Defer</a:t>
            </a:r>
          </a:p>
          <a:p>
            <a:pPr algn="ctr"/>
            <a:endParaRPr lang="en-PK" b="1" dirty="0">
              <a:solidFill>
                <a:schemeClr val="tx1"/>
              </a:solidFill>
            </a:endParaRPr>
          </a:p>
          <a:p>
            <a:pPr algn="ctr"/>
            <a:r>
              <a:rPr lang="en-PK" dirty="0">
                <a:solidFill>
                  <a:schemeClr val="tx1"/>
                </a:solidFill>
              </a:rPr>
              <a:t>Put it in a Queue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337AB0-008E-C255-52AF-587FBA02BACB}"/>
              </a:ext>
            </a:extLst>
          </p:cNvPr>
          <p:cNvSpPr txBox="1"/>
          <p:nvPr/>
        </p:nvSpPr>
        <p:spPr>
          <a:xfrm>
            <a:off x="2903244" y="282568"/>
            <a:ext cx="6385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+mj-lt"/>
                <a:cs typeface="Arial" panose="020B0604020202020204" pitchFamily="34" charset="0"/>
              </a:rPr>
              <a:t>Closest work done </a:t>
            </a:r>
            <a:endParaRPr lang="en-GB" sz="6000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" name="Picture 3" descr="Official Socialmedia Accounts of GIKI - Ghulam Ishaq Khan ...">
            <a:extLst>
              <a:ext uri="{FF2B5EF4-FFF2-40B4-BE49-F238E27FC236}">
                <a16:creationId xmlns:a16="http://schemas.microsoft.com/office/drawing/2014/main" id="{622E0557-1777-391B-38B2-835D5A425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4D89DE-E87A-329D-2CCF-B6C0C97AC32C}"/>
              </a:ext>
            </a:extLst>
          </p:cNvPr>
          <p:cNvSpPr txBox="1"/>
          <p:nvPr/>
        </p:nvSpPr>
        <p:spPr>
          <a:xfrm rot="10800000" flipV="1">
            <a:off x="974637" y="5836768"/>
            <a:ext cx="102427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GB" sz="1400" dirty="0"/>
              <a:t>Lázaro, Marcelino, et al. "AI-Driven Alert Triage in Security Operations </a:t>
            </a:r>
            <a:r>
              <a:rPr lang="en-GB" sz="1400" dirty="0" err="1"/>
              <a:t>Centers</a:t>
            </a:r>
            <a:r>
              <a:rPr lang="en-GB" sz="1400" dirty="0"/>
              <a:t>: Imbalanced Learning with Human-in-the-Loop Contextual Bias </a:t>
            </a:r>
            <a:r>
              <a:rPr lang="en-GB" sz="1400" dirty="0" err="1"/>
              <a:t>Modeling</a:t>
            </a:r>
            <a:r>
              <a:rPr lang="en-GB" sz="1400" dirty="0"/>
              <a:t>." </a:t>
            </a:r>
            <a:r>
              <a:rPr lang="en-GB" sz="1400" i="1" dirty="0"/>
              <a:t>IFIP International Conference on Artificial Intelligence Applications and Innovations</a:t>
            </a:r>
            <a:r>
              <a:rPr lang="en-GB" sz="1400" dirty="0"/>
              <a:t>. Cham: Springer Nature Switzerland, 2026.</a:t>
            </a:r>
            <a:endParaRPr lang="en-PK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A7861-6D54-F2E2-1012-371F69BB27D5}"/>
              </a:ext>
            </a:extLst>
          </p:cNvPr>
          <p:cNvSpPr txBox="1"/>
          <p:nvPr/>
        </p:nvSpPr>
        <p:spPr>
          <a:xfrm rot="10800000" flipV="1">
            <a:off x="447675" y="4675803"/>
            <a:ext cx="11296649" cy="101566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A human-facing recommendation system limited to two coarse yes/no decisions, built for managed-SOC client-reporting workflows, with no clear evidence it was validated on live alerts rather than old data.</a:t>
            </a:r>
            <a:endParaRPr lang="en-PK" sz="2000" b="1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29A5282-36E3-8BDF-07A5-075765603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1600" y="1332904"/>
            <a:ext cx="10242725" cy="713197"/>
          </a:xfrm>
        </p:spPr>
        <p:txBody>
          <a:bodyPr>
            <a:noAutofit/>
          </a:bodyPr>
          <a:lstStyle/>
          <a:p>
            <a:pPr algn="justLow"/>
            <a:r>
              <a:rPr lang="en-GB" dirty="0"/>
              <a:t>AI-Driven Alert Triage in Security Operations </a:t>
            </a:r>
            <a:r>
              <a:rPr lang="en-GB" dirty="0" err="1"/>
              <a:t>Centers</a:t>
            </a:r>
            <a:r>
              <a:rPr lang="en-GB" dirty="0"/>
              <a:t>: Imbalanced Learning with Human-in-the-Loop Contextual Bias </a:t>
            </a:r>
            <a:r>
              <a:rPr lang="en-GB" dirty="0" err="1"/>
              <a:t>Modeling</a:t>
            </a:r>
            <a:endParaRPr lang="en-PK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67C0EF5-FDDA-E542-599F-F1C7005DC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01600" y="2220182"/>
            <a:ext cx="10242725" cy="2501788"/>
          </a:xfrm>
        </p:spPr>
        <p:txBody>
          <a:bodyPr>
            <a:noAutofit/>
          </a:bodyPr>
          <a:lstStyle/>
          <a:p>
            <a:r>
              <a:rPr lang="en-GB" sz="2400" dirty="0"/>
              <a:t>Only suggests a decision to a human, doesn't decide on its own</a:t>
            </a:r>
          </a:p>
          <a:p>
            <a:r>
              <a:rPr lang="en-GB" sz="2400" dirty="0"/>
              <a:t>Handles just two simple yes/no decisions. not very detailed</a:t>
            </a:r>
          </a:p>
          <a:p>
            <a:r>
              <a:rPr lang="en-GB" sz="2400" dirty="0"/>
              <a:t>Built for managed SOCs (where a company handles security for other clients) — may not work the same for a normal in-house SOC</a:t>
            </a:r>
          </a:p>
          <a:p>
            <a:r>
              <a:rPr lang="en-GB" sz="2400" dirty="0"/>
              <a:t>Not clear if it was tested on real, live alerts or just old recorded data confirmed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19004169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939DC-4FBB-50AE-9A0E-084AF21A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09752-996D-0772-B0D9-FB06F3DE8E6B}"/>
              </a:ext>
            </a:extLst>
          </p:cNvPr>
          <p:cNvSpPr txBox="1"/>
          <p:nvPr/>
        </p:nvSpPr>
        <p:spPr>
          <a:xfrm>
            <a:off x="2903244" y="282568"/>
            <a:ext cx="6385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+mj-lt"/>
                <a:cs typeface="Arial" panose="020B0604020202020204" pitchFamily="34" charset="0"/>
              </a:rPr>
              <a:t>Closest work done </a:t>
            </a:r>
            <a:endParaRPr lang="en-GB" sz="6000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" name="Picture 3" descr="Official Socialmedia Accounts of GIKI - Ghulam Ishaq Khan ...">
            <a:extLst>
              <a:ext uri="{FF2B5EF4-FFF2-40B4-BE49-F238E27FC236}">
                <a16:creationId xmlns:a16="http://schemas.microsoft.com/office/drawing/2014/main" id="{7E206EB2-AAA4-5868-66C6-7B4D7BCA1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8D33E-EEE3-163A-1B07-2D6E1C888D07}"/>
              </a:ext>
            </a:extLst>
          </p:cNvPr>
          <p:cNvSpPr txBox="1"/>
          <p:nvPr/>
        </p:nvSpPr>
        <p:spPr>
          <a:xfrm rot="10800000" flipV="1">
            <a:off x="1501599" y="6040266"/>
            <a:ext cx="9853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GB" sz="1400" dirty="0"/>
              <a:t>Tong, Liang, et al. "Finding needles in a moving haystack: Prioritizing alerts with adversarial reinforcement learning." </a:t>
            </a:r>
            <a:r>
              <a:rPr lang="en-GB" sz="1400" i="1" dirty="0"/>
              <a:t>Proceedings of the AAAI Conference on Artificial Intelligence</a:t>
            </a:r>
            <a:r>
              <a:rPr lang="en-GB" sz="1400" dirty="0"/>
              <a:t>. Vol. 34. No. 01. 2020.</a:t>
            </a:r>
            <a:endParaRPr lang="en-PK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3A23F-5573-EF6D-4911-5F178FE474B7}"/>
              </a:ext>
            </a:extLst>
          </p:cNvPr>
          <p:cNvSpPr txBox="1"/>
          <p:nvPr/>
        </p:nvSpPr>
        <p:spPr>
          <a:xfrm rot="10800000" flipV="1">
            <a:off x="811211" y="4700018"/>
            <a:ext cx="10569575" cy="101566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A fixed-budget, resetting-queue model built for continuous action spaces, whose headline "20% risk reduction" is a best-case number that drops to zero under cheap, frequent attacks.</a:t>
            </a:r>
            <a:endParaRPr lang="en-PK" sz="2000" b="1" dirty="0">
              <a:solidFill>
                <a:schemeClr val="bg1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A661E66-376D-E2AD-3C9B-11D57BA98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01600" y="1501600"/>
            <a:ext cx="9853788" cy="738665"/>
          </a:xfrm>
        </p:spPr>
        <p:txBody>
          <a:bodyPr>
            <a:noAutofit/>
          </a:bodyPr>
          <a:lstStyle/>
          <a:p>
            <a:pPr algn="justLow"/>
            <a:r>
              <a:rPr lang="en-GB" dirty="0"/>
              <a:t>Finding needles in a moving haystack: Prioritizing alerts with adversarial reinforcement learning</a:t>
            </a:r>
            <a:endParaRPr lang="en-PK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4CB421-383C-B7F7-7DDB-0F45D1AC8D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01599" y="2329350"/>
            <a:ext cx="9853788" cy="2288386"/>
          </a:xfrm>
        </p:spPr>
        <p:txBody>
          <a:bodyPr>
            <a:normAutofit/>
          </a:bodyPr>
          <a:lstStyle/>
          <a:p>
            <a:r>
              <a:rPr lang="en-GB" sz="2200" dirty="0"/>
              <a:t>Budget is a fixed constant, never observed by the policy as live input</a:t>
            </a:r>
          </a:p>
          <a:p>
            <a:r>
              <a:rPr lang="en-GB" sz="2200" dirty="0"/>
              <a:t>Alert queue resets every period, no accumulating backlog</a:t>
            </a:r>
          </a:p>
          <a:p>
            <a:r>
              <a:rPr lang="en-GB" sz="2200" dirty="0"/>
              <a:t>The "20%" figure is best-of-4 categories, and drops to zero under cheap, frequent feint attacks</a:t>
            </a:r>
          </a:p>
          <a:p>
            <a:r>
              <a:rPr lang="en-GB" sz="2200" dirty="0"/>
              <a:t>Uses DDPG, built for continuous action spaces — doesn't directly fit discrete setups (like close/queue/escalate)</a:t>
            </a:r>
          </a:p>
          <a:p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344315884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672211" y="1574277"/>
            <a:ext cx="1297021" cy="19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endParaRPr lang="en-US" sz="2400" dirty="0"/>
          </a:p>
        </p:txBody>
      </p:sp>
      <p:pic>
        <p:nvPicPr>
          <p:cNvPr id="5" name="Picture 4" descr="Official Socialmedia Accounts of GIKI - Ghulam Ishaq Khan ...">
            <a:extLst>
              <a:ext uri="{FF2B5EF4-FFF2-40B4-BE49-F238E27FC236}">
                <a16:creationId xmlns:a16="http://schemas.microsoft.com/office/drawing/2014/main" id="{8617F81A-DB8D-C808-A7B1-EB2FCCEDF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C29D40-C301-55A6-0A7B-28C031E94420}"/>
              </a:ext>
            </a:extLst>
          </p:cNvPr>
          <p:cNvSpPr txBox="1"/>
          <p:nvPr/>
        </p:nvSpPr>
        <p:spPr>
          <a:xfrm>
            <a:off x="1270000" y="1501600"/>
            <a:ext cx="968851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Low">
              <a:buFont typeface="Wingdings" pitchFamily="2" charset="2"/>
              <a:buChar char="v"/>
            </a:pPr>
            <a:r>
              <a:rPr lang="en-GB" sz="2400" dirty="0"/>
              <a:t>Simulated SOC workload environment </a:t>
            </a:r>
          </a:p>
          <a:p>
            <a:pPr marL="342900" lvl="0" indent="-342900" algn="justLow">
              <a:buFont typeface="Wingdings" pitchFamily="2" charset="2"/>
              <a:buChar char="v"/>
            </a:pPr>
            <a:endParaRPr lang="en-GB" sz="2400" dirty="0"/>
          </a:p>
          <a:p>
            <a:pPr marL="342900" lvl="0" indent="-342900" algn="justLow">
              <a:buFont typeface="Wingdings" pitchFamily="2" charset="2"/>
              <a:buChar char="v"/>
            </a:pPr>
            <a:r>
              <a:rPr lang="en-GB" sz="2400" dirty="0"/>
              <a:t>Six alert-triage methods compared under the same conditions</a:t>
            </a:r>
          </a:p>
          <a:p>
            <a:pPr lvl="0" algn="justLow"/>
            <a:endParaRPr lang="en-GB" sz="2400" dirty="0"/>
          </a:p>
          <a:p>
            <a:pPr marL="342900" lvl="0" indent="-342900" algn="justLow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400" dirty="0"/>
              <a:t>Dynamic SOC workload state: </a:t>
            </a:r>
            <a:r>
              <a:rPr lang="en-GB" sz="2400" b="1" dirty="0"/>
              <a:t>demand, capacity, backlog, analyst availability, Utilization, Recent Workload</a:t>
            </a:r>
          </a:p>
          <a:p>
            <a:pPr marL="342900" lvl="0" indent="-342900" algn="justLow">
              <a:lnSpc>
                <a:spcPct val="150000"/>
              </a:lnSpc>
              <a:buFont typeface="Wingdings" pitchFamily="2" charset="2"/>
              <a:buChar char="v"/>
            </a:pPr>
            <a:endParaRPr lang="en-GB" sz="2400" b="1" dirty="0"/>
          </a:p>
          <a:p>
            <a:pPr marL="342900" lvl="0" indent="-342900" algn="justLow">
              <a:buFont typeface="Wingdings" pitchFamily="2" charset="2"/>
              <a:buChar char="v"/>
            </a:pPr>
            <a:r>
              <a:rPr lang="en-GB" sz="2400" dirty="0"/>
              <a:t>Hard severity floor for high-severity alerts</a:t>
            </a:r>
          </a:p>
          <a:p>
            <a:pPr lvl="0" algn="justLow"/>
            <a:endParaRPr lang="en-GB" sz="2400" dirty="0"/>
          </a:p>
          <a:p>
            <a:pPr marL="342900" lvl="0" indent="-342900" algn="justLow">
              <a:buFont typeface="Wingdings" pitchFamily="2" charset="2"/>
              <a:buChar char="v"/>
            </a:pPr>
            <a:r>
              <a:rPr lang="en-GB" sz="2400" dirty="0"/>
              <a:t>Splunk as the primary SIEM target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BF022D-CD96-BB6C-DC82-445229F87673}"/>
              </a:ext>
            </a:extLst>
          </p:cNvPr>
          <p:cNvSpPr txBox="1"/>
          <p:nvPr/>
        </p:nvSpPr>
        <p:spPr>
          <a:xfrm>
            <a:off x="4124325" y="361372"/>
            <a:ext cx="3943350" cy="85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530"/>
              </a:lnSpc>
              <a:buNone/>
            </a:pPr>
            <a:endParaRPr lang="en-US" sz="6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253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60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5084" y="614742"/>
            <a:ext cx="10917716" cy="35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Computing Problem Alignment</a:t>
            </a:r>
            <a:endParaRPr lang="en-US" sz="4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581568"/>
              </p:ext>
            </p:extLst>
          </p:nvPr>
        </p:nvGraphicFramePr>
        <p:xfrm>
          <a:off x="742278" y="1727724"/>
          <a:ext cx="10433722" cy="47409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6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3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4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#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</a:rPr>
                        <a:t>Attribute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b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</a:rPr>
                        <a:t>Justification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5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Range of conflicting requirements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justLow">
                        <a:lnSpc>
                          <a:spcPct val="100000"/>
                        </a:lnSpc>
                        <a:buNone/>
                      </a:pPr>
                      <a:r>
                        <a:rPr lang="en-GB" sz="1600" dirty="0"/>
                        <a:t>Reducing analyst workload can conflict with maintaining security.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7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Depth of analysis required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justLow">
                        <a:lnSpc>
                          <a:spcPct val="100000"/>
                        </a:lnSpc>
                        <a:buNone/>
                      </a:pPr>
                      <a:r>
                        <a:rPr lang="en-GB" sz="1600" dirty="0"/>
                        <a:t>Six triage methods are compared because no single approach is assumed optimal.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81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Depth of knowledge required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justLow">
                        <a:lnSpc>
                          <a:spcPct val="100000"/>
                        </a:lnSpc>
                        <a:buNone/>
                      </a:pPr>
                      <a:r>
                        <a:rPr lang="en-GB" sz="1600" dirty="0"/>
                        <a:t>Combines cybersecurity, machine learning/RL, and SOC workload </a:t>
                      </a:r>
                      <a:r>
                        <a:rPr lang="en-GB" sz="1600" dirty="0" err="1"/>
                        <a:t>modeling</a:t>
                      </a:r>
                      <a:r>
                        <a:rPr lang="en-GB" sz="1600" dirty="0"/>
                        <a:t>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7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Familiarity of issues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justLow">
                        <a:lnSpc>
                          <a:spcPct val="100000"/>
                        </a:lnSpc>
                        <a:buNone/>
                      </a:pPr>
                      <a:r>
                        <a:rPr lang="en-GB" sz="1600" dirty="0"/>
                        <a:t>Existing work addresses alert automation, but workload-conditioned triage remains insufficiently explored.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37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Level of problem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justLow">
                        <a:lnSpc>
                          <a:spcPct val="100000"/>
                        </a:lnSpc>
                        <a:buNone/>
                      </a:pPr>
                      <a:r>
                        <a:rPr lang="en-GB" sz="1600" dirty="0"/>
                        <a:t>Requires integration of alert processing, SOC-state </a:t>
                      </a:r>
                      <a:r>
                        <a:rPr lang="en-GB" sz="1600" dirty="0" err="1"/>
                        <a:t>modeling</a:t>
                      </a:r>
                      <a:r>
                        <a:rPr lang="en-GB" sz="1600" dirty="0"/>
                        <a:t>, decision policy, and feedback.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81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Consequences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justLow">
                        <a:lnSpc>
                          <a:spcPct val="100000"/>
                        </a:lnSpc>
                        <a:buNone/>
                      </a:pPr>
                      <a:r>
                        <a:rPr lang="en-GB" sz="1600" dirty="0"/>
                        <a:t>Incorrect triage can increase analyst burden or delay response to genuine threats.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53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3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Interdependence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justLow">
                        <a:buNone/>
                      </a:pPr>
                      <a:r>
                        <a:rPr lang="en-GB" sz="1600" dirty="0"/>
                        <a:t>Each component affects subsequent decisions, workload state, queue evolution, and feedback.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3" descr="Official Socialmedia Accounts of GIKI - Ghulam Ishaq Khan ...">
            <a:extLst>
              <a:ext uri="{FF2B5EF4-FFF2-40B4-BE49-F238E27FC236}">
                <a16:creationId xmlns:a16="http://schemas.microsoft.com/office/drawing/2014/main" id="{D1582E1D-12B2-92BA-D81A-D28DC1A81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2657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4E9D8-A733-2781-8952-672BC7A91397}"/>
              </a:ext>
            </a:extLst>
          </p:cNvPr>
          <p:cNvSpPr txBox="1"/>
          <p:nvPr/>
        </p:nvSpPr>
        <p:spPr>
          <a:xfrm>
            <a:off x="3958471" y="2188731"/>
            <a:ext cx="72468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SDG 9 — Industry, Innovation &amp; Infrastructure</a:t>
            </a:r>
            <a:br>
              <a:rPr lang="en-GB" dirty="0"/>
            </a:br>
            <a:r>
              <a:rPr lang="en-GB" dirty="0"/>
              <a:t>Advances cybersecurity research through an innovative workload-aware alert-triage system.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SDG 16 — Peace, Justice &amp; Strong Institutions</a:t>
            </a:r>
            <a:br>
              <a:rPr lang="en-GB" dirty="0"/>
            </a:br>
            <a:r>
              <a:rPr lang="en-GB" dirty="0"/>
              <a:t>Supports stronger institutional cybersecurity through more effective security-operations processes.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SDG 8 — Decent Work &amp; Economic Growth</a:t>
            </a:r>
            <a:br>
              <a:rPr lang="en-GB" dirty="0"/>
            </a:br>
            <a:r>
              <a:rPr lang="en-GB" dirty="0"/>
              <a:t>Investigates whether workload-aware can improve SOC analyst productivity and workload sustainability.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478CC-2F7E-EE11-DFC5-E9BB5659B50E}"/>
              </a:ext>
            </a:extLst>
          </p:cNvPr>
          <p:cNvSpPr txBox="1"/>
          <p:nvPr/>
        </p:nvSpPr>
        <p:spPr>
          <a:xfrm>
            <a:off x="3444020" y="282568"/>
            <a:ext cx="54634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6000" b="1" dirty="0"/>
              <a:t>SDG Alignment</a:t>
            </a:r>
          </a:p>
        </p:txBody>
      </p:sp>
      <p:pic>
        <p:nvPicPr>
          <p:cNvPr id="6" name="Picture 5" descr="Sustainable Development | United Nations">
            <a:extLst>
              <a:ext uri="{FF2B5EF4-FFF2-40B4-BE49-F238E27FC236}">
                <a16:creationId xmlns:a16="http://schemas.microsoft.com/office/drawing/2014/main" id="{DA0C1E78-B669-5D7E-CA20-FE5E316F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99" t="47070" r="50677" b="32418"/>
          <a:stretch>
            <a:fillRect/>
          </a:stretch>
        </p:blipFill>
        <p:spPr>
          <a:xfrm>
            <a:off x="2321744" y="2188731"/>
            <a:ext cx="1074656" cy="1055802"/>
          </a:xfrm>
          <a:prstGeom prst="rect">
            <a:avLst/>
          </a:prstGeom>
        </p:spPr>
      </p:pic>
      <p:pic>
        <p:nvPicPr>
          <p:cNvPr id="7" name="Picture 6" descr="Sustainable Development | United Nations">
            <a:extLst>
              <a:ext uri="{FF2B5EF4-FFF2-40B4-BE49-F238E27FC236}">
                <a16:creationId xmlns:a16="http://schemas.microsoft.com/office/drawing/2014/main" id="{D519C5FC-C8EF-D30E-7B70-1A535F9E5A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00" t="47253" r="66176" b="32967"/>
          <a:stretch>
            <a:fillRect/>
          </a:stretch>
        </p:blipFill>
        <p:spPr>
          <a:xfrm>
            <a:off x="2331170" y="5422821"/>
            <a:ext cx="1074656" cy="1018094"/>
          </a:xfrm>
          <a:prstGeom prst="rect">
            <a:avLst/>
          </a:prstGeom>
        </p:spPr>
      </p:pic>
      <p:pic>
        <p:nvPicPr>
          <p:cNvPr id="8" name="Picture 7" descr="Sustainable Development | United Nations">
            <a:extLst>
              <a:ext uri="{FF2B5EF4-FFF2-40B4-BE49-F238E27FC236}">
                <a16:creationId xmlns:a16="http://schemas.microsoft.com/office/drawing/2014/main" id="{4DFAC39D-9AA0-1A87-0F09-CF99CD9D0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54" t="68639" r="35299" b="11031"/>
          <a:stretch>
            <a:fillRect/>
          </a:stretch>
        </p:blipFill>
        <p:spPr>
          <a:xfrm>
            <a:off x="2321744" y="3838769"/>
            <a:ext cx="1084082" cy="1046377"/>
          </a:xfrm>
          <a:prstGeom prst="rect">
            <a:avLst/>
          </a:prstGeom>
        </p:spPr>
      </p:pic>
      <p:pic>
        <p:nvPicPr>
          <p:cNvPr id="9" name="Picture 8" descr="Sustainable Development | United Nations">
            <a:extLst>
              <a:ext uri="{FF2B5EF4-FFF2-40B4-BE49-F238E27FC236}">
                <a16:creationId xmlns:a16="http://schemas.microsoft.com/office/drawing/2014/main" id="{083A9421-6240-B33E-41C8-4DDE387A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40" t="9890" r="20292" b="77553"/>
          <a:stretch>
            <a:fillRect/>
          </a:stretch>
        </p:blipFill>
        <p:spPr>
          <a:xfrm>
            <a:off x="3958471" y="1298231"/>
            <a:ext cx="4434524" cy="646332"/>
          </a:xfrm>
          <a:prstGeom prst="rect">
            <a:avLst/>
          </a:prstGeom>
        </p:spPr>
      </p:pic>
      <p:pic>
        <p:nvPicPr>
          <p:cNvPr id="2" name="Picture 1" descr="Official Socialmedia Accounts of GIKI - Ghulam Ishaq Khan ...">
            <a:extLst>
              <a:ext uri="{FF2B5EF4-FFF2-40B4-BE49-F238E27FC236}">
                <a16:creationId xmlns:a16="http://schemas.microsoft.com/office/drawing/2014/main" id="{C1CCA114-585F-EB71-4EE4-0D6B05111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7499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71717E-6859-547C-D8E1-70F1F686DC89}"/>
              </a:ext>
            </a:extLst>
          </p:cNvPr>
          <p:cNvSpPr txBox="1"/>
          <p:nvPr/>
        </p:nvSpPr>
        <p:spPr>
          <a:xfrm>
            <a:off x="6018845" y="3351684"/>
            <a:ext cx="1466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  <a:endParaRPr lang="en-GB"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E2171-7F35-DD4D-1290-5C99919A5165}"/>
              </a:ext>
            </a:extLst>
          </p:cNvPr>
          <p:cNvSpPr/>
          <p:nvPr/>
        </p:nvSpPr>
        <p:spPr>
          <a:xfrm>
            <a:off x="6092187" y="3411855"/>
            <a:ext cx="112395" cy="110490"/>
          </a:xfrm>
          <a:prstGeom prst="rect">
            <a:avLst/>
          </a:prstGeom>
          <a:solidFill>
            <a:srgbClr val="D1E6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GB" sz="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D447CF-D48E-1AB9-635B-61CEFDC30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7" y="1271182"/>
            <a:ext cx="12112800" cy="5586818"/>
          </a:xfrm>
          <a:prstGeom prst="rect">
            <a:avLst/>
          </a:prstGeom>
        </p:spPr>
      </p:pic>
      <p:pic>
        <p:nvPicPr>
          <p:cNvPr id="5" name="Picture 4" descr="Official Socialmedia Accounts of GIKI - Ghulam Ishaq Khan ...">
            <a:extLst>
              <a:ext uri="{FF2B5EF4-FFF2-40B4-BE49-F238E27FC236}">
                <a16:creationId xmlns:a16="http://schemas.microsoft.com/office/drawing/2014/main" id="{335505ED-EF78-116D-6EC5-294355E43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" y="79200"/>
            <a:ext cx="1255928" cy="125592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 flipH="1">
            <a:off x="3643828" y="395607"/>
            <a:ext cx="4896717" cy="58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80"/>
              </a:lnSpc>
              <a:buNone/>
            </a:pP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2469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84337"/>
            <a:ext cx="10160000" cy="41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8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Delivering</a:t>
            </a:r>
            <a:endParaRPr lang="en-US"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6F3C7-3C77-343B-B315-5A0CBADE11EE}"/>
              </a:ext>
            </a:extLst>
          </p:cNvPr>
          <p:cNvSpPr txBox="1"/>
          <p:nvPr/>
        </p:nvSpPr>
        <p:spPr>
          <a:xfrm>
            <a:off x="1501600" y="1488944"/>
            <a:ext cx="1015476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Low">
              <a:buFont typeface="+mj-lt"/>
              <a:buAutoNum type="arabicPeriod"/>
            </a:pPr>
            <a:r>
              <a:rPr lang="en-GB" sz="2200" b="1" dirty="0"/>
              <a:t>Research System - </a:t>
            </a:r>
            <a:r>
              <a:rPr lang="en-GB" sz="2200" dirty="0"/>
              <a:t>A simulated SOC environment with workload-aware alert triage.</a:t>
            </a:r>
          </a:p>
          <a:p>
            <a:pPr marL="457200" indent="-457200" algn="justLow">
              <a:buFont typeface="+mj-lt"/>
              <a:buAutoNum type="arabicPeriod"/>
            </a:pPr>
            <a:endParaRPr lang="en-GB" sz="2200" b="1" dirty="0"/>
          </a:p>
          <a:p>
            <a:pPr marL="457200" indent="-457200" algn="justLow">
              <a:buFont typeface="+mj-lt"/>
              <a:buAutoNum type="arabicPeriod"/>
            </a:pPr>
            <a:r>
              <a:rPr lang="en-GB" sz="2200" b="1" dirty="0"/>
              <a:t>Comparative Evaluation - </a:t>
            </a:r>
            <a:r>
              <a:rPr lang="en-GB" sz="2200" dirty="0"/>
              <a:t>Six triage approaches evaluated under the same workload conditions.</a:t>
            </a:r>
          </a:p>
          <a:p>
            <a:pPr marL="457200" indent="-457200" algn="justLow">
              <a:buFont typeface="+mj-lt"/>
              <a:buAutoNum type="arabicPeriod"/>
            </a:pPr>
            <a:endParaRPr lang="en-GB" sz="2200" b="1" dirty="0"/>
          </a:p>
          <a:p>
            <a:pPr marL="457200" indent="-457200" algn="justLow">
              <a:buFont typeface="+mj-lt"/>
              <a:buAutoNum type="arabicPeriod"/>
            </a:pPr>
            <a:r>
              <a:rPr lang="en-GB" sz="2200" b="1" dirty="0"/>
              <a:t>Working Prototype - </a:t>
            </a:r>
            <a:r>
              <a:rPr lang="en-GB" sz="2200" dirty="0"/>
              <a:t>ARSS implementing alert understanding, severity protection, workload state, and adaptive triage.</a:t>
            </a:r>
          </a:p>
          <a:p>
            <a:pPr marL="457200" indent="-457200" algn="justLow">
              <a:buFont typeface="+mj-lt"/>
              <a:buAutoNum type="arabicPeriod"/>
            </a:pPr>
            <a:endParaRPr lang="en-GB" sz="2200" b="1" dirty="0"/>
          </a:p>
          <a:p>
            <a:pPr marL="457200" indent="-457200" algn="justLow">
              <a:buFont typeface="+mj-lt"/>
              <a:buAutoNum type="arabicPeriod"/>
            </a:pPr>
            <a:r>
              <a:rPr lang="en-GB" sz="2200" b="1" dirty="0"/>
              <a:t>Research Outcome - </a:t>
            </a:r>
            <a:r>
              <a:rPr lang="en-GB" sz="2200" dirty="0"/>
              <a:t>Evidence showing whether workload-conditioned triage can reduce analyst burden without increasing missed high-severity alerts.</a:t>
            </a:r>
          </a:p>
          <a:p>
            <a:pPr marL="457200" indent="-457200" algn="justLow">
              <a:buFont typeface="+mj-lt"/>
              <a:buAutoNum type="arabicPeriod"/>
            </a:pPr>
            <a:endParaRPr lang="en-GB" sz="2200" b="1" dirty="0"/>
          </a:p>
          <a:p>
            <a:pPr marL="457200" indent="-457200" algn="justLow">
              <a:buFont typeface="+mj-lt"/>
              <a:buAutoNum type="arabicPeriod"/>
            </a:pPr>
            <a:r>
              <a:rPr lang="en-GB" sz="2200" b="1" dirty="0"/>
              <a:t>Evaluation Evidence - </a:t>
            </a:r>
            <a:r>
              <a:rPr lang="en-GB" sz="2200" dirty="0"/>
              <a:t>Measured results across workload, queue </a:t>
            </a:r>
            <a:r>
              <a:rPr lang="en-GB" sz="2200" dirty="0" err="1"/>
              <a:t>behavior</a:t>
            </a:r>
            <a:r>
              <a:rPr lang="en-GB" sz="2200" dirty="0"/>
              <a:t>, response performance, and security outcomes.</a:t>
            </a:r>
          </a:p>
        </p:txBody>
      </p:sp>
      <p:pic>
        <p:nvPicPr>
          <p:cNvPr id="3" name="Picture 2" descr="Official Socialmedia Accounts of GIKI - Ghulam Ishaq Khan ...">
            <a:extLst>
              <a:ext uri="{FF2B5EF4-FFF2-40B4-BE49-F238E27FC236}">
                <a16:creationId xmlns:a16="http://schemas.microsoft.com/office/drawing/2014/main" id="{448C86F8-862D-93BB-97A1-9306D54A7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" y="79200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4526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FA01C7-F280-48A7-AB6B-71D3A3DC066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20363a8-cf97-4198-a886-a9795e891e2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5CC57E34C74F4AA8E7561B26D8BE4E" ma:contentTypeVersion="6" ma:contentTypeDescription="Create a new document." ma:contentTypeScope="" ma:versionID="cf3c9e93c9ad0da3214da2f2d1f45168">
  <xsd:schema xmlns:xsd="http://www.w3.org/2001/XMLSchema" xmlns:xs="http://www.w3.org/2001/XMLSchema" xmlns:p="http://schemas.microsoft.com/office/2006/metadata/properties" xmlns:ns3="c37bdea3-cabc-463f-acad-5e9bc727a59f" targetNamespace="http://schemas.microsoft.com/office/2006/metadata/properties" ma:root="true" ma:fieldsID="380af84fe4744a2804aa759064d8b890" ns3:_="">
    <xsd:import namespace="c37bdea3-cabc-463f-acad-5e9bc727a5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7bdea3-cabc-463f-acad-5e9bc727a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37bdea3-cabc-463f-acad-5e9bc727a59f" xsi:nil="true"/>
  </documentManagement>
</p:properties>
</file>

<file path=customXml/itemProps1.xml><?xml version="1.0" encoding="utf-8"?>
<ds:datastoreItem xmlns:ds="http://schemas.openxmlformats.org/officeDocument/2006/customXml" ds:itemID="{1767008B-1234-4094-B529-3405B534D9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7bdea3-cabc-463f-acad-5e9bc727a5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8012A3-3A09-4006-8A9A-A0BA65D74E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C445C4-E1DC-4B27-87F0-D11FCCD90A9E}">
  <ds:schemaRefs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c37bdea3-cabc-463f-acad-5e9bc727a59f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1102</Words>
  <Application>Microsoft Office PowerPoint</Application>
  <PresentationFormat>Widescreen</PresentationFormat>
  <Paragraphs>148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What Is a SOC?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u2023416</dc:creator>
  <cp:lastModifiedBy>u2023406</cp:lastModifiedBy>
  <cp:revision>6</cp:revision>
  <dcterms:created xsi:type="dcterms:W3CDTF">2026-09-28T18:42:33Z</dcterms:created>
  <dcterms:modified xsi:type="dcterms:W3CDTF">2026-09-29T11:55:13Z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0x010100745CC57E34C74F4AA8E7561B26D8BE4E</vt:lpwstr>
  </property>
</Properties>
</file>