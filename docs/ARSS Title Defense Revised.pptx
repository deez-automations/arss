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4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8623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semperis.com/wp-content/uploads/resources-pdfs/reports/resources-semperis-ransomware-holiday-risk-report.pdf" TargetMode="Externa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4846322" y="1165860"/>
            <a:ext cx="2499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ARSS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1828799" y="2400300"/>
            <a:ext cx="84124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Response System for SOC (Security Operations Centre)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1549400" y="3017520"/>
            <a:ext cx="897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triage assistant that adapts to how busy the security team is.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22910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Daniyal (2023406)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Haider Iqbal (2023416)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Daud (2023677)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955282" y="4366260"/>
            <a:ext cx="374903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Muhammad Fawad Khan (Supervisor)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Hadia Abbas (Co-Supervisor)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551681" y="5966460"/>
            <a:ext cx="3088638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Cybersecurity, FCSE, GIKI</a:t>
            </a:r>
            <a:endParaRPr lang="en-US" sz="2000" dirty="0"/>
          </a:p>
        </p:txBody>
      </p:sp>
      <p:pic>
        <p:nvPicPr>
          <p:cNvPr id="10" name="Image 0" descr="build/logo.png">
            <a:extLst>
              <a:ext uri="{FF2B5EF4-FFF2-40B4-BE49-F238E27FC236}">
                <a16:creationId xmlns:a16="http://schemas.microsoft.com/office/drawing/2014/main" id="{0F4FC183-A280-F482-B5FE-262A2DDB3D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SOC?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490194" y="2012195"/>
            <a:ext cx="3291840" cy="2727646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600"/>
          </a:p>
        </p:txBody>
      </p:sp>
      <p:sp>
        <p:nvSpPr>
          <p:cNvPr id="8" name="Shape 5"/>
          <p:cNvSpPr/>
          <p:nvPr/>
        </p:nvSpPr>
        <p:spPr>
          <a:xfrm>
            <a:off x="764514" y="2286515"/>
            <a:ext cx="868680" cy="835892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58" y="2524259"/>
            <a:ext cx="393192" cy="37835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64514" y="3292355"/>
            <a:ext cx="2743200" cy="439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764514" y="3795275"/>
            <a:ext cx="2743200" cy="835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tool flags something suspicious.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3919194" y="3200915"/>
            <a:ext cx="411480" cy="439943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13" name="Shape 9"/>
          <p:cNvSpPr/>
          <p:nvPr/>
        </p:nvSpPr>
        <p:spPr>
          <a:xfrm>
            <a:off x="4467834" y="2012195"/>
            <a:ext cx="3291840" cy="2727646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600"/>
          </a:p>
        </p:txBody>
      </p:sp>
      <p:sp>
        <p:nvSpPr>
          <p:cNvPr id="14" name="Shape 10"/>
          <p:cNvSpPr/>
          <p:nvPr/>
        </p:nvSpPr>
        <p:spPr>
          <a:xfrm>
            <a:off x="4742154" y="2286515"/>
            <a:ext cx="868680" cy="835892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9898" y="2524259"/>
            <a:ext cx="393192" cy="3783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42154" y="3292355"/>
            <a:ext cx="2743200" cy="439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4742154" y="3776987"/>
            <a:ext cx="2743200" cy="263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Centre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742154" y="4087883"/>
            <a:ext cx="2743200" cy="55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of analysts who check those alerts.</a:t>
            </a:r>
            <a:endParaRPr lang="en-US" dirty="0"/>
          </a:p>
        </p:txBody>
      </p:sp>
      <p:sp>
        <p:nvSpPr>
          <p:cNvPr id="19" name="Shape 14"/>
          <p:cNvSpPr/>
          <p:nvPr/>
        </p:nvSpPr>
        <p:spPr>
          <a:xfrm>
            <a:off x="7896834" y="3200915"/>
            <a:ext cx="411480" cy="439943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sp>
        <p:nvSpPr>
          <p:cNvPr id="20" name="Shape 15"/>
          <p:cNvSpPr/>
          <p:nvPr/>
        </p:nvSpPr>
        <p:spPr>
          <a:xfrm>
            <a:off x="8445474" y="2012195"/>
            <a:ext cx="3291840" cy="2727646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 sz="1600"/>
          </a:p>
        </p:txBody>
      </p:sp>
      <p:sp>
        <p:nvSpPr>
          <p:cNvPr id="21" name="Shape 16"/>
          <p:cNvSpPr/>
          <p:nvPr/>
        </p:nvSpPr>
        <p:spPr>
          <a:xfrm>
            <a:off x="8719794" y="2286515"/>
            <a:ext cx="868680" cy="835892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 sz="160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7538" y="2524259"/>
            <a:ext cx="393192" cy="37835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719794" y="3292355"/>
            <a:ext cx="2743200" cy="439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8719794" y="3795275"/>
            <a:ext cx="2743200" cy="835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for each alert: real threat or false alarm, and what gets looked at first.</a:t>
            </a:r>
            <a:endParaRPr lang="en-US" dirty="0"/>
          </a:p>
        </p:txBody>
      </p:sp>
      <p:sp>
        <p:nvSpPr>
          <p:cNvPr id="29" name="Shape 1">
            <a:extLst>
              <a:ext uri="{FF2B5EF4-FFF2-40B4-BE49-F238E27FC236}">
                <a16:creationId xmlns:a16="http://schemas.microsoft.com/office/drawing/2014/main" id="{666CF665-8963-0944-C9D2-6483B931C845}"/>
              </a:ext>
            </a:extLst>
          </p:cNvPr>
          <p:cNvSpPr/>
          <p:nvPr/>
        </p:nvSpPr>
        <p:spPr>
          <a:xfrm>
            <a:off x="457200" y="5669280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70B36BB1-E347-2629-65EE-F65A4A64BC50}"/>
              </a:ext>
            </a:extLst>
          </p:cNvPr>
          <p:cNvSpPr txBox="1"/>
          <p:nvPr/>
        </p:nvSpPr>
        <p:spPr>
          <a:xfrm>
            <a:off x="731520" y="5669280"/>
            <a:ext cx="10835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raise alerts, analysts check them, and triage decides which get attention first.</a:t>
            </a:r>
            <a:endParaRPr lang="en-US" sz="2400" dirty="0"/>
          </a:p>
        </p:txBody>
      </p:sp>
      <p:sp>
        <p:nvSpPr>
          <p:cNvPr id="33" name="Shape 19">
            <a:extLst>
              <a:ext uri="{FF2B5EF4-FFF2-40B4-BE49-F238E27FC236}">
                <a16:creationId xmlns:a16="http://schemas.microsoft.com/office/drawing/2014/main" id="{9C4F992E-6047-99FD-86DB-CEC075C84373}"/>
              </a:ext>
            </a:extLst>
          </p:cNvPr>
          <p:cNvSpPr/>
          <p:nvPr/>
        </p:nvSpPr>
        <p:spPr>
          <a:xfrm>
            <a:off x="457200" y="4931031"/>
            <a:ext cx="11274552" cy="54705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</a:t>
            </a:r>
            <a:r>
              <a:rPr lang="en-US" sz="1200" b="1" dirty="0">
                <a:solidFill>
                  <a:srgbClr val="8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GB" sz="1200" b="1" dirty="0">
                <a:solidFill>
                  <a:srgbClr val="8A0000"/>
                </a:solidFill>
              </a:rPr>
              <a:t>Security Information and Event Management</a:t>
            </a:r>
            <a:r>
              <a:rPr lang="en-US" sz="1200" b="1" dirty="0">
                <a:solidFill>
                  <a:srgbClr val="8A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en-US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r>
              <a:rPr lang="en-US" sz="12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where alerts arrive (for example, Splunk, our target platform).</a:t>
            </a:r>
            <a:endParaRPr lang="en-US" dirty="0"/>
          </a:p>
        </p:txBody>
      </p:sp>
      <p:sp>
        <p:nvSpPr>
          <p:cNvPr id="39" name="Shape 19">
            <a:extLst>
              <a:ext uri="{FF2B5EF4-FFF2-40B4-BE49-F238E27FC236}">
                <a16:creationId xmlns:a16="http://schemas.microsoft.com/office/drawing/2014/main" id="{5335B184-4658-BC30-EC45-5880EA1C400B}"/>
              </a:ext>
            </a:extLst>
          </p:cNvPr>
          <p:cNvSpPr/>
          <p:nvPr/>
        </p:nvSpPr>
        <p:spPr>
          <a:xfrm>
            <a:off x="476478" y="1299336"/>
            <a:ext cx="11274552" cy="547059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  <p:txBody>
          <a:bodyPr anchor="ctr"/>
          <a:lstStyle/>
          <a:p>
            <a:r>
              <a:rPr lang="en-GB" dirty="0"/>
              <a:t>A </a:t>
            </a:r>
            <a:r>
              <a:rPr lang="en-GB" dirty="0">
                <a:solidFill>
                  <a:srgbClr val="8A0000"/>
                </a:solidFill>
              </a:rPr>
              <a:t>SOC</a:t>
            </a:r>
            <a:r>
              <a:rPr lang="en-GB" dirty="0"/>
              <a:t> is the team that watches an organization’s network 24/7 to detect and respond to cyber threats.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Alerts Are Going Unattended</a:t>
            </a:r>
            <a:endParaRPr lang="en-US" sz="3400" dirty="0"/>
          </a:p>
        </p:txBody>
      </p:sp>
      <p:sp>
        <p:nvSpPr>
          <p:cNvPr id="8" name="Shape 5"/>
          <p:cNvSpPr/>
          <p:nvPr/>
        </p:nvSpPr>
        <p:spPr>
          <a:xfrm>
            <a:off x="457200" y="1280160"/>
            <a:ext cx="2514600" cy="137160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4630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19659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pile up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200400" y="1280160"/>
            <a:ext cx="425196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3383280" y="128016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49%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484632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assigned alerts get resolved within a workday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635240" y="1280160"/>
            <a:ext cx="425196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1"/>
          <p:cNvSpPr txBox="1"/>
          <p:nvPr/>
        </p:nvSpPr>
        <p:spPr>
          <a:xfrm>
            <a:off x="7818120" y="128016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51%</a:t>
            </a:r>
            <a:endParaRPr lang="en-US" sz="4400" dirty="0"/>
          </a:p>
        </p:txBody>
      </p:sp>
      <p:sp>
        <p:nvSpPr>
          <p:cNvPr id="16" name="Text 12"/>
          <p:cNvSpPr txBox="1"/>
          <p:nvPr/>
        </p:nvSpPr>
        <p:spPr>
          <a:xfrm>
            <a:off x="928116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SOC teams feel overwhelmed by alert volume</a:t>
            </a:r>
            <a:endParaRPr lang="en-US" sz="1700" dirty="0"/>
          </a:p>
        </p:txBody>
      </p:sp>
      <p:sp>
        <p:nvSpPr>
          <p:cNvPr id="17" name="Shape 13"/>
          <p:cNvSpPr/>
          <p:nvPr/>
        </p:nvSpPr>
        <p:spPr>
          <a:xfrm>
            <a:off x="457200" y="2788920"/>
            <a:ext cx="2514600" cy="137160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97180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40080" y="3474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drop when attackers don’t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3200400" y="2788920"/>
            <a:ext cx="425196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1" name="Text 16"/>
          <p:cNvSpPr txBox="1"/>
          <p:nvPr/>
        </p:nvSpPr>
        <p:spPr>
          <a:xfrm>
            <a:off x="3383280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4400" dirty="0"/>
          </a:p>
        </p:txBody>
      </p:sp>
      <p:sp>
        <p:nvSpPr>
          <p:cNvPr id="22" name="Text 17"/>
          <p:cNvSpPr txBox="1"/>
          <p:nvPr/>
        </p:nvSpPr>
        <p:spPr>
          <a:xfrm>
            <a:off x="4846320" y="27889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companies cut SOC staffing by 50%+ on weekends and holidays</a:t>
            </a:r>
            <a:endParaRPr lang="en-US" sz="1700" dirty="0"/>
          </a:p>
        </p:txBody>
      </p:sp>
      <p:sp>
        <p:nvSpPr>
          <p:cNvPr id="23" name="Shape 18"/>
          <p:cNvSpPr/>
          <p:nvPr/>
        </p:nvSpPr>
        <p:spPr>
          <a:xfrm>
            <a:off x="7635240" y="2788920"/>
            <a:ext cx="4251960" cy="1371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4" name="Text 19"/>
          <p:cNvSpPr txBox="1"/>
          <p:nvPr/>
        </p:nvSpPr>
        <p:spPr>
          <a:xfrm>
            <a:off x="7818120" y="278892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7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52%</a:t>
            </a:r>
            <a:endParaRPr lang="en-US" sz="4400" dirty="0"/>
          </a:p>
        </p:txBody>
      </p:sp>
      <p:sp>
        <p:nvSpPr>
          <p:cNvPr id="25" name="Text 20"/>
          <p:cNvSpPr txBox="1"/>
          <p:nvPr/>
        </p:nvSpPr>
        <p:spPr>
          <a:xfrm>
            <a:off x="9281160" y="278892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report ransomware targeting on weekends and holidays</a:t>
            </a:r>
            <a:endParaRPr lang="en-US" sz="1700" dirty="0"/>
          </a:p>
        </p:txBody>
      </p:sp>
      <p:sp>
        <p:nvSpPr>
          <p:cNvPr id="28" name="Shape 1">
            <a:extLst>
              <a:ext uri="{FF2B5EF4-FFF2-40B4-BE49-F238E27FC236}">
                <a16:creationId xmlns:a16="http://schemas.microsoft.com/office/drawing/2014/main" id="{3EA0B51D-CF1E-4EF8-8237-BAE9630DD125}"/>
              </a:ext>
            </a:extLst>
          </p:cNvPr>
          <p:cNvSpPr/>
          <p:nvPr/>
        </p:nvSpPr>
        <p:spPr>
          <a:xfrm>
            <a:off x="390011" y="5458968"/>
            <a:ext cx="11274552" cy="54864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isn’t the bottleneck; analyst capacity is, and it shrinks on weekends and holidays when ransomware is common.</a:t>
            </a:r>
            <a:endParaRPr lang="en-US" sz="175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4995F3A6-6D7A-9B9C-87B0-F0E9FE2C016D}"/>
              </a:ext>
            </a:extLst>
          </p:cNvPr>
          <p:cNvSpPr txBox="1"/>
          <p:nvPr/>
        </p:nvSpPr>
        <p:spPr>
          <a:xfrm>
            <a:off x="390011" y="6344743"/>
            <a:ext cx="11274552" cy="3669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justLow">
              <a:buFont typeface="Arial" panose="020B0604020202020204" pitchFamily="34" charset="0"/>
              <a:buChar char="•"/>
            </a:pPr>
            <a:r>
              <a:rPr lang="en-GB" sz="1000" i="1" dirty="0">
                <a:solidFill>
                  <a:srgbClr val="222222"/>
                </a:solidFill>
                <a:latin typeface="Arial" panose="020B0604020202020204" pitchFamily="34" charset="0"/>
              </a:rPr>
              <a:t>Tariq, S., Baruwal Chhetri, M., Nepal, S., &amp; Paris, C. (2025). Alert fatigue in security operations centres: Research challenges and opportunities. ACM Computing Surveys, 57(9), 1-38.</a:t>
            </a:r>
          </a:p>
          <a:p>
            <a:pPr marL="171450" indent="-171450" algn="justLow">
              <a:buFont typeface="Arial" panose="020B0604020202020204" pitchFamily="34" charset="0"/>
              <a:buChar char="•"/>
            </a:pPr>
            <a:r>
              <a:rPr lang="en-GB" sz="1000" i="1" dirty="0" err="1"/>
              <a:t>Semperis</a:t>
            </a:r>
            <a:r>
              <a:rPr lang="en-GB" sz="1000" i="1" dirty="0"/>
              <a:t>. (2025). 2025 ransomware holiday risk report. </a:t>
            </a:r>
            <a:r>
              <a:rPr lang="en-GB" sz="1000" i="1" dirty="0">
                <a:hlinkClick r:id="rId6"/>
              </a:rPr>
              <a:t>https://www.semperis.com/wp-content/uploads/resources-pdfs/reports/resources-semperis-ransomware-holiday-risk-report.pdf</a:t>
            </a:r>
            <a:endParaRPr lang="en-US" sz="1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32" name="Text 21">
            <a:extLst>
              <a:ext uri="{FF2B5EF4-FFF2-40B4-BE49-F238E27FC236}">
                <a16:creationId xmlns:a16="http://schemas.microsoft.com/office/drawing/2014/main" id="{3CAD2BAA-64A2-31EF-FACD-68D5F0C1BD87}"/>
              </a:ext>
            </a:extLst>
          </p:cNvPr>
          <p:cNvSpPr txBox="1"/>
          <p:nvPr/>
        </p:nvSpPr>
        <p:spPr>
          <a:xfrm>
            <a:off x="457200" y="4434840"/>
            <a:ext cx="112745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works. So why do alerts still go unattended?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&amp; Background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5481780"/>
            <a:ext cx="11274552" cy="509047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papers leave the same gap: no system decides on its own from live SOC workload. ARSS is built to close it.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458724" y="6095935"/>
            <a:ext cx="112745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Lázaro, Marcelino &amp; Álvarez-Pérez, Lorena &amp; Gonzalez-Serrano, Francisco-Javier &amp; Gutiérrez-López, Aitor &amp; Álvarez-Aldana, José-Luis &amp; Gil-López, Marta &amp; Izquierdo-Núñez, Andrés &amp; Montero-Santos, Jairo. (2026). AI-Driven Alert Triage in Security Operations </a:t>
            </a:r>
            <a:r>
              <a:rPr lang="en-GB" sz="1000" dirty="0" err="1"/>
              <a:t>Centers</a:t>
            </a:r>
            <a:r>
              <a:rPr lang="en-GB" sz="1000" dirty="0"/>
              <a:t>: Imbalanced Learning with Human-in-the-Loop Contextual Bias </a:t>
            </a:r>
            <a:r>
              <a:rPr lang="en-GB" sz="1000" dirty="0" err="1"/>
              <a:t>Modeling</a:t>
            </a:r>
            <a:r>
              <a:rPr lang="en-GB" sz="1000" dirty="0"/>
              <a:t>. 10.1007/978-3-032-30805-4_11.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000" dirty="0"/>
              <a:t>Tong, Liang &amp; </a:t>
            </a:r>
            <a:r>
              <a:rPr lang="en-GB" sz="1000" dirty="0" err="1"/>
              <a:t>Laszka</a:t>
            </a:r>
            <a:r>
              <a:rPr lang="en-GB" sz="1000" dirty="0"/>
              <a:t>, Aron &amp; Yan, Chao &amp; Zhang, Ning &amp; </a:t>
            </a:r>
            <a:r>
              <a:rPr lang="en-GB" sz="1000" dirty="0" err="1"/>
              <a:t>Vorobeychik</a:t>
            </a:r>
            <a:r>
              <a:rPr lang="en-GB" sz="1000" dirty="0"/>
              <a:t>, Yevgeniy. (2020). Finding Needles in a Moving Haystack: Prioritizing Alerts with Adversarial Reinforcement Learning. Proceedings of the AAAI Conference on Artificial Intelligence. 34. 946-953. 10.1609/aaai.v34i01.5442. </a:t>
            </a:r>
            <a:endParaRPr lang="en-PK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1124712"/>
            <a:ext cx="5486400" cy="77724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685800" y="11247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Lázaro et al. (2026)</a:t>
            </a:r>
            <a:endParaRPr lang="en-US" sz="2100" dirty="0"/>
          </a:p>
          <a:p>
            <a:pPr marL="0" indent="0">
              <a:buNone/>
            </a:pPr>
            <a:r>
              <a:rPr lang="en-US" sz="14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alert triage with human-in-the-loop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57200" y="1901952"/>
            <a:ext cx="5486400" cy="256032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685800" y="1947672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suggests a decision to a human; doesn’t act on its own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just two coarse yes/no decisions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managed SOCs (a company running security for clients), not clearly for in-house ones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if tested on live alerts or only on old recorded data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57200" y="4553712"/>
            <a:ext cx="5486400" cy="8229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GB"/>
          </a:p>
        </p:txBody>
      </p:sp>
      <p:sp>
        <p:nvSpPr>
          <p:cNvPr id="13" name="Text 10"/>
          <p:cNvSpPr txBox="1"/>
          <p:nvPr/>
        </p:nvSpPr>
        <p:spPr>
          <a:xfrm>
            <a:off x="685800" y="45537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Advises a human with two coarse calls, so it can’t triage on its own.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45352" y="1124712"/>
            <a:ext cx="5486400" cy="77724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6473952" y="11247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Tong et al. (2020)</a:t>
            </a:r>
            <a:endParaRPr lang="en-US" sz="2100" dirty="0"/>
          </a:p>
          <a:p>
            <a:pPr marL="0" indent="0">
              <a:buNone/>
            </a:pPr>
            <a:r>
              <a:rPr lang="en-US" sz="1400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prioritization with adversarial reinforcement learning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6245352" y="1901952"/>
            <a:ext cx="5486400" cy="256032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 txBox="1"/>
          <p:nvPr/>
        </p:nvSpPr>
        <p:spPr>
          <a:xfrm>
            <a:off x="6473952" y="1947672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budget is a fixed constant, never a live input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resets every period, so backlog never builds up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20% gain is best-of-4 categories and drops to zero under cheap, frequent feint attacks</a:t>
            </a:r>
            <a:endParaRPr lang="en-US" sz="16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DDPG (built for continuous actions), a poor fit for discrete close / defer / escalate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245352" y="4553712"/>
            <a:ext cx="5486400" cy="82296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GB" dirty="0"/>
          </a:p>
        </p:txBody>
      </p:sp>
      <p:sp>
        <p:nvSpPr>
          <p:cNvPr id="19" name="Text 16"/>
          <p:cNvSpPr txBox="1"/>
          <p:nvPr/>
        </p:nvSpPr>
        <p:spPr>
          <a:xfrm>
            <a:off x="6473952" y="455371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is a fixed budget and the queue resets, so real backlog never shapes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Solution: ARSS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5862907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ARSS decides close, defer or escalate on its own from the alert plus live SOC workload, and high severity always reaches a human.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11274552" cy="82296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 txBox="1"/>
          <p:nvPr/>
        </p:nvSpPr>
        <p:spPr>
          <a:xfrm>
            <a:off x="685800" y="1280160"/>
            <a:ext cx="10835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ARSS </a:t>
            </a:r>
            <a:r>
              <a:rPr lang="en-US" sz="20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AI triage system that decides what happens to each alert, using the alert’s risk and how loaded the SOC is right now.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5486400" cy="155448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685800" y="2651760"/>
            <a:ext cx="822960" cy="82296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 txBox="1"/>
          <p:nvPr/>
        </p:nvSpPr>
        <p:spPr>
          <a:xfrm>
            <a:off x="685800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1737360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Understanding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1737360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each incoming alert and labels its attack type, risk score and how confident the model is.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45352" y="2286000"/>
            <a:ext cx="5486400" cy="155448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6473952" y="2651760"/>
            <a:ext cx="822960" cy="8229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 txBox="1"/>
          <p:nvPr/>
        </p:nvSpPr>
        <p:spPr>
          <a:xfrm>
            <a:off x="6473952" y="2651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7525512" y="2423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Floor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7525512" y="29260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rule: high-severity alerts skip the decision and always go to a human.</a:t>
            </a:r>
            <a:endParaRPr lang="en-US" sz="1700" dirty="0"/>
          </a:p>
        </p:txBody>
      </p:sp>
      <p:sp>
        <p:nvSpPr>
          <p:cNvPr id="19" name="Shape 16"/>
          <p:cNvSpPr/>
          <p:nvPr/>
        </p:nvSpPr>
        <p:spPr>
          <a:xfrm>
            <a:off x="457200" y="4074453"/>
            <a:ext cx="5486400" cy="155448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685800" y="4440213"/>
            <a:ext cx="822960" cy="82296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685800" y="4440213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421161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 Workload State</a:t>
            </a:r>
            <a:endParaRPr lang="en-US" sz="2200" dirty="0"/>
          </a:p>
        </p:txBody>
      </p:sp>
      <p:sp>
        <p:nvSpPr>
          <p:cNvPr id="23" name="Text 20"/>
          <p:cNvSpPr txBox="1"/>
          <p:nvPr/>
        </p:nvSpPr>
        <p:spPr>
          <a:xfrm>
            <a:off x="1737360" y="4714533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picture of the team: incoming alerts, capacity, backlog, analysts online, utilization and recent load.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245352" y="4074453"/>
            <a:ext cx="5486400" cy="155448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6473952" y="4440213"/>
            <a:ext cx="822960" cy="82296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 txBox="1"/>
          <p:nvPr/>
        </p:nvSpPr>
        <p:spPr>
          <a:xfrm>
            <a:off x="6473952" y="4440213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7" name="Text 24"/>
          <p:cNvSpPr txBox="1"/>
          <p:nvPr/>
        </p:nvSpPr>
        <p:spPr>
          <a:xfrm>
            <a:off x="7525512" y="4211613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Agent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7525512" y="4714533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alert and the workload state, then picks Auto-Close, Defer or Escalate.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ARSS Works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5875020"/>
            <a:ext cx="11274552" cy="52578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changes the SOC’s state, and the next alert is judged on that updated state.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7200" y="1280160"/>
            <a:ext cx="2011680" cy="2514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25603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the incoming alert.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2505456" y="2391156"/>
            <a:ext cx="228600" cy="292608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2772918" y="1280160"/>
            <a:ext cx="2011680" cy="2514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2955798" y="1463040"/>
            <a:ext cx="548640" cy="5486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 txBox="1"/>
          <p:nvPr/>
        </p:nvSpPr>
        <p:spPr>
          <a:xfrm>
            <a:off x="2955798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2955798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2955798" y="25603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out attack type, risk score and model confidence.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4821174" y="2391156"/>
            <a:ext cx="228600" cy="292608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6"/>
          <p:cNvSpPr/>
          <p:nvPr/>
        </p:nvSpPr>
        <p:spPr>
          <a:xfrm>
            <a:off x="5088636" y="1280160"/>
            <a:ext cx="2011680" cy="2514600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en-GB"/>
          </a:p>
        </p:txBody>
      </p:sp>
      <p:sp>
        <p:nvSpPr>
          <p:cNvPr id="20" name="Shape 17"/>
          <p:cNvSpPr/>
          <p:nvPr/>
        </p:nvSpPr>
        <p:spPr>
          <a:xfrm>
            <a:off x="5271516" y="1463040"/>
            <a:ext cx="548640" cy="54864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 txBox="1"/>
          <p:nvPr/>
        </p:nvSpPr>
        <p:spPr>
          <a:xfrm>
            <a:off x="5271516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5271516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floor</a:t>
            </a:r>
            <a:endParaRPr lang="en-US" sz="2100" dirty="0"/>
          </a:p>
        </p:txBody>
      </p:sp>
      <p:sp>
        <p:nvSpPr>
          <p:cNvPr id="23" name="Text 20"/>
          <p:cNvSpPr txBox="1"/>
          <p:nvPr/>
        </p:nvSpPr>
        <p:spPr>
          <a:xfrm>
            <a:off x="5271516" y="25603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severity? Straight to a human. 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step 4.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7136892" y="2391156"/>
            <a:ext cx="228600" cy="292608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2"/>
          <p:cNvSpPr/>
          <p:nvPr/>
        </p:nvSpPr>
        <p:spPr>
          <a:xfrm>
            <a:off x="7404354" y="1280160"/>
            <a:ext cx="2011680" cy="251460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7587234" y="1463040"/>
            <a:ext cx="548640" cy="54864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 txBox="1"/>
          <p:nvPr/>
        </p:nvSpPr>
        <p:spPr>
          <a:xfrm>
            <a:off x="7587234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5"/>
          <p:cNvSpPr txBox="1"/>
          <p:nvPr/>
        </p:nvSpPr>
        <p:spPr>
          <a:xfrm>
            <a:off x="7587234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agent</a:t>
            </a:r>
            <a:endParaRPr lang="en-US" sz="2100" dirty="0"/>
          </a:p>
        </p:txBody>
      </p:sp>
      <p:sp>
        <p:nvSpPr>
          <p:cNvPr id="29" name="Text 26"/>
          <p:cNvSpPr txBox="1"/>
          <p:nvPr/>
        </p:nvSpPr>
        <p:spPr>
          <a:xfrm>
            <a:off x="7587234" y="25603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SOC state, then picks Close, Defer or Escalate.</a:t>
            </a:r>
            <a:endParaRPr lang="en-US" sz="1700" dirty="0"/>
          </a:p>
        </p:txBody>
      </p:sp>
      <p:sp>
        <p:nvSpPr>
          <p:cNvPr id="30" name="Shape 27"/>
          <p:cNvSpPr/>
          <p:nvPr/>
        </p:nvSpPr>
        <p:spPr>
          <a:xfrm>
            <a:off x="9452610" y="2391156"/>
            <a:ext cx="228600" cy="292608"/>
          </a:xfrm>
          <a:prstGeom prst="rightArrow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8"/>
          <p:cNvSpPr/>
          <p:nvPr/>
        </p:nvSpPr>
        <p:spPr>
          <a:xfrm>
            <a:off x="9720072" y="1280160"/>
            <a:ext cx="2011680" cy="25146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2" name="Shape 29"/>
          <p:cNvSpPr/>
          <p:nvPr/>
        </p:nvSpPr>
        <p:spPr>
          <a:xfrm>
            <a:off x="9902952" y="1463040"/>
            <a:ext cx="548640" cy="5486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0"/>
          <p:cNvSpPr txBox="1"/>
          <p:nvPr/>
        </p:nvSpPr>
        <p:spPr>
          <a:xfrm>
            <a:off x="9902952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9902952" y="21031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2100" dirty="0"/>
          </a:p>
        </p:txBody>
      </p:sp>
      <p:sp>
        <p:nvSpPr>
          <p:cNvPr id="35" name="Text 32"/>
          <p:cNvSpPr txBox="1"/>
          <p:nvPr/>
        </p:nvSpPr>
        <p:spPr>
          <a:xfrm>
            <a:off x="9902952" y="2560320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and workload change. Outcome is logged.</a:t>
            </a:r>
            <a:endParaRPr lang="en-US" sz="1700" dirty="0"/>
          </a:p>
        </p:txBody>
      </p:sp>
      <p:sp>
        <p:nvSpPr>
          <p:cNvPr id="36" name="Shape 33"/>
          <p:cNvSpPr/>
          <p:nvPr/>
        </p:nvSpPr>
        <p:spPr>
          <a:xfrm>
            <a:off x="10722864" y="3794760"/>
            <a:ext cx="0" cy="457200"/>
          </a:xfrm>
          <a:prstGeom prst="line">
            <a:avLst/>
          </a:prstGeom>
          <a:noFill/>
          <a:ln w="4445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4"/>
          <p:cNvSpPr/>
          <p:nvPr/>
        </p:nvSpPr>
        <p:spPr>
          <a:xfrm>
            <a:off x="8385811" y="4251959"/>
            <a:ext cx="2360294" cy="0"/>
          </a:xfrm>
          <a:prstGeom prst="line">
            <a:avLst/>
          </a:prstGeom>
          <a:noFill/>
          <a:ln w="4445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5"/>
          <p:cNvSpPr/>
          <p:nvPr/>
        </p:nvSpPr>
        <p:spPr>
          <a:xfrm flipV="1">
            <a:off x="8407908" y="3794760"/>
            <a:ext cx="0" cy="457199"/>
          </a:xfrm>
          <a:prstGeom prst="line">
            <a:avLst/>
          </a:prstGeom>
          <a:noFill/>
          <a:ln w="44450">
            <a:solidFill>
              <a:srgbClr val="7A1F2E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6"/>
          <p:cNvSpPr txBox="1"/>
          <p:nvPr/>
        </p:nvSpPr>
        <p:spPr>
          <a:xfrm>
            <a:off x="3108960" y="4306824"/>
            <a:ext cx="7616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alert is judged on the updated state</a:t>
            </a:r>
            <a:endParaRPr lang="en-US" sz="170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46588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state the triage agent reads</a:t>
            </a:r>
            <a:endParaRPr lang="en-US" sz="1700" dirty="0"/>
          </a:p>
        </p:txBody>
      </p:sp>
      <p:sp>
        <p:nvSpPr>
          <p:cNvPr id="41" name="Shape 38"/>
          <p:cNvSpPr/>
          <p:nvPr/>
        </p:nvSpPr>
        <p:spPr>
          <a:xfrm>
            <a:off x="457200" y="5052060"/>
            <a:ext cx="178308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9"/>
          <p:cNvSpPr txBox="1"/>
          <p:nvPr/>
        </p:nvSpPr>
        <p:spPr>
          <a:xfrm>
            <a:off x="530352" y="505206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arriving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2355494" y="5052060"/>
            <a:ext cx="178308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Text 41"/>
          <p:cNvSpPr txBox="1"/>
          <p:nvPr/>
        </p:nvSpPr>
        <p:spPr>
          <a:xfrm>
            <a:off x="2428646" y="505206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capacity</a:t>
            </a:r>
            <a:endParaRPr lang="en-US" sz="1500" dirty="0"/>
          </a:p>
        </p:txBody>
      </p:sp>
      <p:sp>
        <p:nvSpPr>
          <p:cNvPr id="45" name="Shape 42"/>
          <p:cNvSpPr/>
          <p:nvPr/>
        </p:nvSpPr>
        <p:spPr>
          <a:xfrm>
            <a:off x="4253789" y="5052060"/>
            <a:ext cx="178308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3"/>
          <p:cNvSpPr txBox="1"/>
          <p:nvPr/>
        </p:nvSpPr>
        <p:spPr>
          <a:xfrm>
            <a:off x="4326941" y="505206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waiting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6152083" y="5052060"/>
            <a:ext cx="178308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6225235" y="505206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online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500" dirty="0"/>
          </a:p>
        </p:txBody>
      </p:sp>
      <p:sp>
        <p:nvSpPr>
          <p:cNvPr id="49" name="Shape 46"/>
          <p:cNvSpPr/>
          <p:nvPr/>
        </p:nvSpPr>
        <p:spPr>
          <a:xfrm>
            <a:off x="8050378" y="5052060"/>
            <a:ext cx="178308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7"/>
          <p:cNvSpPr txBox="1"/>
          <p:nvPr/>
        </p:nvSpPr>
        <p:spPr>
          <a:xfrm>
            <a:off x="8123530" y="505206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load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9948672" y="5052060"/>
            <a:ext cx="1783080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49"/>
          <p:cNvSpPr txBox="1"/>
          <p:nvPr/>
        </p:nvSpPr>
        <p:spPr>
          <a:xfrm>
            <a:off x="10021824" y="5052060"/>
            <a:ext cx="163677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2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history</a:t>
            </a:r>
            <a:endParaRPr lang="en-US" sz="15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trend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Triage Methods, One Fair Comparison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5833872"/>
            <a:ext cx="11274552" cy="566928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GB" dirty="0">
                <a:solidFill>
                  <a:schemeClr val="bg1"/>
                </a:solidFill>
              </a:rPr>
              <a:t>Four methods, from a fixed rule to a learning agent, tested on identical conditions to find out which triages best.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128016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method is assumed best, so ARSS tests a fixed rule against increasingly adaptive ones.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288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5B62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508760" y="1988820"/>
            <a:ext cx="8778240" cy="0"/>
          </a:xfrm>
          <a:prstGeom prst="line">
            <a:avLst/>
          </a:prstGeom>
          <a:noFill/>
          <a:ln w="38100">
            <a:solidFill>
              <a:srgbClr val="C9A24B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 txBox="1"/>
          <p:nvPr/>
        </p:nvSpPr>
        <p:spPr>
          <a:xfrm>
            <a:off x="10424160" y="1828800"/>
            <a:ext cx="13075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2679192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2" name="Shape 9"/>
          <p:cNvSpPr/>
          <p:nvPr/>
        </p:nvSpPr>
        <p:spPr>
          <a:xfrm>
            <a:off x="457200" y="2286000"/>
            <a:ext cx="2679192" cy="64008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594360" y="237744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 txBox="1"/>
          <p:nvPr/>
        </p:nvSpPr>
        <p:spPr>
          <a:xfrm>
            <a:off x="59436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28600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Threshold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01752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BY</a:t>
            </a:r>
            <a:endParaRPr lang="en-US" sz="1100" b="1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20040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risk-score cutoffs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371246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389534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Nothing; rules are hand-set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40740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OVER TIME?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459028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3322320" y="2286000"/>
            <a:ext cx="2679192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3322320" y="2286000"/>
            <a:ext cx="2679192" cy="64008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1"/>
          <p:cNvSpPr/>
          <p:nvPr/>
        </p:nvSpPr>
        <p:spPr>
          <a:xfrm>
            <a:off x="3459480" y="237744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2"/>
          <p:cNvSpPr txBox="1"/>
          <p:nvPr/>
        </p:nvSpPr>
        <p:spPr>
          <a:xfrm>
            <a:off x="34594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4008120" y="228600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Learning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3505200" y="301752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BY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3505200" y="320040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predicts the right action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505200" y="371246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3505200" y="389534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alerts with known outcomes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505200" y="440740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OVER TIME?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3505200" y="459028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retrained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6187440" y="2286000"/>
            <a:ext cx="2679192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4" name="Shape 31"/>
          <p:cNvSpPr/>
          <p:nvPr/>
        </p:nvSpPr>
        <p:spPr>
          <a:xfrm>
            <a:off x="6187440" y="2286000"/>
            <a:ext cx="2679192" cy="64008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2"/>
          <p:cNvSpPr/>
          <p:nvPr/>
        </p:nvSpPr>
        <p:spPr>
          <a:xfrm>
            <a:off x="6324600" y="237744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 txBox="1"/>
          <p:nvPr/>
        </p:nvSpPr>
        <p:spPr>
          <a:xfrm>
            <a:off x="632460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37" name="Text 34"/>
          <p:cNvSpPr txBox="1"/>
          <p:nvPr/>
        </p:nvSpPr>
        <p:spPr>
          <a:xfrm>
            <a:off x="6873240" y="228600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Bandit</a:t>
            </a:r>
            <a:endParaRPr lang="en-US" sz="1800" dirty="0"/>
          </a:p>
        </p:txBody>
      </p:sp>
      <p:sp>
        <p:nvSpPr>
          <p:cNvPr id="38" name="Text 35"/>
          <p:cNvSpPr txBox="1"/>
          <p:nvPr/>
        </p:nvSpPr>
        <p:spPr>
          <a:xfrm>
            <a:off x="6370320" y="301752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BY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6370320" y="320040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action that pays off best now</a:t>
            </a:r>
            <a:endParaRPr lang="en-US" sz="1500" dirty="0"/>
          </a:p>
        </p:txBody>
      </p:sp>
      <p:sp>
        <p:nvSpPr>
          <p:cNvPr id="40" name="Text 37"/>
          <p:cNvSpPr txBox="1"/>
          <p:nvPr/>
        </p:nvSpPr>
        <p:spPr>
          <a:xfrm>
            <a:off x="6370320" y="371246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6370320" y="389534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reward after each decision</a:t>
            </a:r>
            <a:endParaRPr lang="en-US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6370320" y="440740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OVER TIME?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6370320" y="459028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after every decision</a:t>
            </a:r>
            <a:endParaRPr lang="en-US" sz="1500" dirty="0"/>
          </a:p>
        </p:txBody>
      </p:sp>
      <p:sp>
        <p:nvSpPr>
          <p:cNvPr id="44" name="Shape 41"/>
          <p:cNvSpPr/>
          <p:nvPr/>
        </p:nvSpPr>
        <p:spPr>
          <a:xfrm>
            <a:off x="9052560" y="2286000"/>
            <a:ext cx="2679192" cy="274320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5" name="Shape 42"/>
          <p:cNvSpPr/>
          <p:nvPr/>
        </p:nvSpPr>
        <p:spPr>
          <a:xfrm>
            <a:off x="9052560" y="2286000"/>
            <a:ext cx="2679192" cy="640080"/>
          </a:xfrm>
          <a:prstGeom prst="rect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Shape 43"/>
          <p:cNvSpPr/>
          <p:nvPr/>
        </p:nvSpPr>
        <p:spPr>
          <a:xfrm>
            <a:off x="9189720" y="2377440"/>
            <a:ext cx="457200" cy="457200"/>
          </a:xfrm>
          <a:prstGeom prst="ellipse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4"/>
          <p:cNvSpPr txBox="1"/>
          <p:nvPr/>
        </p:nvSpPr>
        <p:spPr>
          <a:xfrm>
            <a:off x="91897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2000" dirty="0"/>
          </a:p>
        </p:txBody>
      </p:sp>
      <p:sp>
        <p:nvSpPr>
          <p:cNvPr id="48" name="Text 45"/>
          <p:cNvSpPr txBox="1"/>
          <p:nvPr/>
        </p:nvSpPr>
        <p:spPr>
          <a:xfrm>
            <a:off x="9738360" y="228600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Sequential RL</a:t>
            </a:r>
            <a:endParaRPr lang="en-US" sz="1800" dirty="0"/>
          </a:p>
        </p:txBody>
      </p:sp>
      <p:sp>
        <p:nvSpPr>
          <p:cNvPr id="49" name="Text 46"/>
          <p:cNvSpPr txBox="1"/>
          <p:nvPr/>
        </p:nvSpPr>
        <p:spPr>
          <a:xfrm>
            <a:off x="9235440" y="3017520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BY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9235440" y="3200400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Weighs how each action affects later alerts</a:t>
            </a:r>
            <a:endParaRPr lang="en-US" sz="1500" dirty="0"/>
          </a:p>
        </p:txBody>
      </p:sp>
      <p:sp>
        <p:nvSpPr>
          <p:cNvPr id="51" name="Text 48"/>
          <p:cNvSpPr txBox="1"/>
          <p:nvPr/>
        </p:nvSpPr>
        <p:spPr>
          <a:xfrm>
            <a:off x="9235440" y="3712464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9235440" y="3895344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and reward in the simulated SOC</a:t>
            </a:r>
            <a:endParaRPr lang="en-US" sz="1500" dirty="0"/>
          </a:p>
        </p:txBody>
      </p:sp>
      <p:sp>
        <p:nvSpPr>
          <p:cNvPr id="53" name="Text 50"/>
          <p:cNvSpPr txBox="1"/>
          <p:nvPr/>
        </p:nvSpPr>
        <p:spPr>
          <a:xfrm>
            <a:off x="9235440" y="4407408"/>
            <a:ext cx="23134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ADAPTS OVER TIME?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9235440" y="4590288"/>
            <a:ext cx="23134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and plans ahead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30368"/>
            <a:ext cx="11274552" cy="457200"/>
          </a:xfrm>
          <a:prstGeom prst="rect">
            <a:avLst/>
          </a:prstGeom>
          <a:solidFill>
            <a:srgbClr val="FFFFFF"/>
          </a:solidFill>
          <a:ln w="15875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GB" sz="2000" dirty="0"/>
              <a:t>All four choose </a:t>
            </a:r>
            <a:r>
              <a:rPr lang="en-GB" sz="2000" b="1" dirty="0"/>
              <a:t>one action</a:t>
            </a:r>
            <a:r>
              <a:rPr lang="en-GB" sz="2000" dirty="0"/>
              <a:t> per alert: Auto-Close, Defer or Escalate.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8724" y="5897880"/>
            <a:ext cx="11274552" cy="50292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 workload-aware triage in a simulation; we don’t deploy it in a real SOC</a:t>
            </a:r>
            <a:endParaRPr lang="en-GB" dirty="0"/>
          </a:p>
        </p:txBody>
      </p:sp>
      <p:sp>
        <p:nvSpPr>
          <p:cNvPr id="28" name="Text 18"/>
          <p:cNvSpPr txBox="1"/>
          <p:nvPr/>
        </p:nvSpPr>
        <p:spPr>
          <a:xfrm>
            <a:off x="1463040" y="5422733"/>
            <a:ext cx="108585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whether the idea works in a controlled simulation, not how it performs in a live SOC</a:t>
            </a: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30" name="Shape 7">
            <a:extLst>
              <a:ext uri="{FF2B5EF4-FFF2-40B4-BE49-F238E27FC236}">
                <a16:creationId xmlns:a16="http://schemas.microsoft.com/office/drawing/2014/main" id="{DDE7CC48-8CA3-4111-D286-EBAF72FFBFA5}"/>
              </a:ext>
            </a:extLst>
          </p:cNvPr>
          <p:cNvSpPr/>
          <p:nvPr/>
        </p:nvSpPr>
        <p:spPr>
          <a:xfrm>
            <a:off x="457200" y="1087795"/>
            <a:ext cx="11274552" cy="4355513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 anchor="ctr"/>
          <a:lstStyle/>
          <a:p>
            <a:pPr lvl="0"/>
            <a:endParaRPr lang="en-GB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Simulated SOC environment: </a:t>
            </a:r>
          </a:p>
          <a:p>
            <a:pPr lvl="1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simulated SOC that generates alerts, manages the queue and models analyst capacity.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Four triage methods: </a:t>
            </a:r>
          </a:p>
          <a:p>
            <a:pPr lvl="1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Four triage methods evaluated on the same alerts under the same workload conditions.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SOC state: </a:t>
            </a:r>
          </a:p>
          <a:p>
            <a:pPr lvl="0"/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A workload state capturing the team's current load, used in every triage decision.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b="1" dirty="0"/>
              <a:t>Severity floor: </a:t>
            </a:r>
          </a:p>
          <a:p>
            <a:pPr lvl="0"/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severity floor that sends high-severity alerts straight to a human.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Splunk</a:t>
            </a:r>
            <a:r>
              <a:rPr lang="en-GB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as the primary SIEM platform ARSS is designed to work with.</a:t>
            </a:r>
          </a:p>
          <a:p>
            <a:endParaRPr lang="en-GB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a Complex Computing Problem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329586"/>
              </p:ext>
            </p:extLst>
          </p:nvPr>
        </p:nvGraphicFramePr>
        <p:xfrm>
          <a:off x="457200" y="1544111"/>
          <a:ext cx="11274552" cy="4245864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it applies to ARSS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Conflicting requirements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800" dirty="0"/>
                        <a:t>Cutting analyst workload means closing more alerts, which risks missing real threats.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analysis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Four methods compared; none assumed best.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 of knowledge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+ machine learning/RL + workload modeling.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Familiarity of issues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automation exists; workload-conditioned triage is insufficiently explored.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2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of problem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800" dirty="0"/>
                        <a:t>Alert analysis, severity rule, workload tracking, decisions and feedback must work as one system</a:t>
                      </a:r>
                      <a:r>
                        <a:rPr lang="en-US" sz="1800" dirty="0">
                          <a:solidFill>
                            <a:srgbClr val="1E1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800" dirty="0"/>
                        <a:t>Wrong triage either delays a real response or buries analysts in extra work.</a:t>
                      </a:r>
                      <a:endParaRPr lang="en-US" sz="1800" b="1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700" b="1" dirty="0">
                          <a:solidFill>
                            <a:srgbClr val="7A1F2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7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1F2A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Interdependence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sz="1800" dirty="0"/>
                        <a:t>Each decision changes the workload state the next alert is judged on.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Alignment</a:t>
            </a:r>
            <a:endParaRPr lang="en-US" sz="3400" dirty="0"/>
          </a:p>
        </p:txBody>
      </p:sp>
      <p:pic>
        <p:nvPicPr>
          <p:cNvPr id="7" name="Image 1" descr="build/sdg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767" y="1647805"/>
            <a:ext cx="1325880" cy="1325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1989527" y="1647805"/>
            <a:ext cx="9765792" cy="132588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5"/>
          <p:cNvSpPr txBox="1"/>
          <p:nvPr/>
        </p:nvSpPr>
        <p:spPr>
          <a:xfrm>
            <a:off x="2218127" y="1784965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9: Industry, Innovation &amp; Infrastructure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2218127" y="228788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workload-aware approach to alert triage.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9899087" y="2105005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7A1F2E"/>
          </a:solidFill>
          <a:ln w="12700">
            <a:solidFill>
              <a:srgbClr val="7A1F2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8"/>
          <p:cNvSpPr txBox="1"/>
          <p:nvPr/>
        </p:nvSpPr>
        <p:spPr>
          <a:xfrm>
            <a:off x="9899087" y="2105005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400" dirty="0"/>
          </a:p>
        </p:txBody>
      </p:sp>
      <p:pic>
        <p:nvPicPr>
          <p:cNvPr id="13" name="Image 2" descr="build/sdg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767" y="3110845"/>
            <a:ext cx="1325880" cy="132588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1989527" y="3110845"/>
            <a:ext cx="9765792" cy="132588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0"/>
          <p:cNvSpPr txBox="1"/>
          <p:nvPr/>
        </p:nvSpPr>
        <p:spPr>
          <a:xfrm>
            <a:off x="2218127" y="3248005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8: Decent Work &amp; Economic Growth</a:t>
            </a:r>
            <a:endParaRPr lang="en-US" sz="2200" dirty="0"/>
          </a:p>
        </p:txBody>
      </p:sp>
      <p:sp>
        <p:nvSpPr>
          <p:cNvPr id="16" name="Text 11"/>
          <p:cNvSpPr txBox="1"/>
          <p:nvPr/>
        </p:nvSpPr>
        <p:spPr>
          <a:xfrm>
            <a:off x="2218127" y="375092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whether it reduces analyst overload.</a:t>
            </a:r>
            <a:endParaRPr lang="en-US" sz="1900" dirty="0"/>
          </a:p>
        </p:txBody>
      </p:sp>
      <p:sp>
        <p:nvSpPr>
          <p:cNvPr id="17" name="Shape 12"/>
          <p:cNvSpPr/>
          <p:nvPr/>
        </p:nvSpPr>
        <p:spPr>
          <a:xfrm>
            <a:off x="9899087" y="3568045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8A90A6"/>
          </a:solidFill>
          <a:ln w="12700">
            <a:solidFill>
              <a:srgbClr val="8A90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 txBox="1"/>
          <p:nvPr/>
        </p:nvSpPr>
        <p:spPr>
          <a:xfrm>
            <a:off x="9899087" y="3568045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400" dirty="0"/>
          </a:p>
        </p:txBody>
      </p:sp>
      <p:pic>
        <p:nvPicPr>
          <p:cNvPr id="19" name="Image 3" descr="build/sdg1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767" y="4573885"/>
            <a:ext cx="1325880" cy="132588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989527" y="4573885"/>
            <a:ext cx="9765792" cy="132588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 txBox="1"/>
          <p:nvPr/>
        </p:nvSpPr>
        <p:spPr>
          <a:xfrm>
            <a:off x="2218127" y="4711045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SDG 16: Peace, Justice &amp; Strong Institutions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2218127" y="5213965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the institutions that depend on SOCs.</a:t>
            </a:r>
            <a:endParaRPr lang="en-US" sz="1900" dirty="0"/>
          </a:p>
        </p:txBody>
      </p:sp>
      <p:sp>
        <p:nvSpPr>
          <p:cNvPr id="23" name="Shape 17"/>
          <p:cNvSpPr/>
          <p:nvPr/>
        </p:nvSpPr>
        <p:spPr>
          <a:xfrm>
            <a:off x="9899087" y="5031085"/>
            <a:ext cx="1691640" cy="411480"/>
          </a:xfrm>
          <a:prstGeom prst="roundRect">
            <a:avLst>
              <a:gd name="adj" fmla="val 17778"/>
            </a:avLst>
          </a:prstGeom>
          <a:solidFill>
            <a:srgbClr val="8A90A6"/>
          </a:solidFill>
          <a:ln w="12700">
            <a:solidFill>
              <a:srgbClr val="8A90A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18"/>
          <p:cNvSpPr txBox="1"/>
          <p:nvPr/>
        </p:nvSpPr>
        <p:spPr>
          <a:xfrm>
            <a:off x="9899087" y="5031085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System Diagram</a:t>
            </a:r>
            <a:endParaRPr lang="en-US" sz="3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62488F-F15A-D006-305B-C09410AC2A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89" y="1123949"/>
            <a:ext cx="11918375" cy="56543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build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"/>
            <a:ext cx="777240" cy="7772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463040" y="2560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Will Deliver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457200" y="5460732"/>
            <a:ext cx="11274552" cy="731520"/>
          </a:xfrm>
          <a:prstGeom prst="roundRect">
            <a:avLst>
              <a:gd name="adj" fmla="val 10000"/>
            </a:avLst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simulated SOC, a working ARSS, a four-way comparison, and evidence on whether workload-aware triage helps.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>
            <a:off x="457200" y="1575014"/>
            <a:ext cx="5486400" cy="150876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8" name="Shape 5"/>
          <p:cNvSpPr/>
          <p:nvPr/>
        </p:nvSpPr>
        <p:spPr>
          <a:xfrm>
            <a:off x="685800" y="1940774"/>
            <a:ext cx="777240" cy="7772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2151086"/>
            <a:ext cx="356616" cy="35661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45920" y="171217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Simulated SOC environment</a:t>
            </a:r>
            <a:endParaRPr lang="en-US" sz="2100" dirty="0"/>
          </a:p>
        </p:txBody>
      </p:sp>
      <p:sp>
        <p:nvSpPr>
          <p:cNvPr id="11" name="Text 7"/>
          <p:cNvSpPr txBox="1"/>
          <p:nvPr/>
        </p:nvSpPr>
        <p:spPr>
          <a:xfrm>
            <a:off x="1645920" y="221509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600" dirty="0"/>
              <a:t>A simulated SOC that models alert flow, the queue and analyst capacity</a:t>
            </a:r>
            <a:r>
              <a:rPr lang="en-US" sz="1700" dirty="0">
                <a:solidFill>
                  <a:srgbClr val="1E1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6245352" y="1575014"/>
            <a:ext cx="5486400" cy="150876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9"/>
          <p:cNvSpPr/>
          <p:nvPr/>
        </p:nvSpPr>
        <p:spPr>
          <a:xfrm>
            <a:off x="6473952" y="1940774"/>
            <a:ext cx="777240" cy="7772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4264" y="2151086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34072" y="171217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ARSS prototype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7434072" y="221509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600" dirty="0"/>
              <a:t>A working system that analyses alerts, applies the severity floor and chooses the triage action.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57200" y="3220934"/>
            <a:ext cx="5486400" cy="150876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3"/>
          <p:cNvSpPr/>
          <p:nvPr/>
        </p:nvSpPr>
        <p:spPr>
          <a:xfrm>
            <a:off x="685800" y="3586694"/>
            <a:ext cx="777240" cy="7772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797006"/>
            <a:ext cx="356616" cy="3566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645920" y="335809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Four-method comparison</a:t>
            </a:r>
            <a:endParaRPr lang="en-US" sz="2100" dirty="0"/>
          </a:p>
        </p:txBody>
      </p:sp>
      <p:sp>
        <p:nvSpPr>
          <p:cNvPr id="21" name="Text 15"/>
          <p:cNvSpPr txBox="1"/>
          <p:nvPr/>
        </p:nvSpPr>
        <p:spPr>
          <a:xfrm>
            <a:off x="1645920" y="386101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600" dirty="0"/>
              <a:t>All four methods tested on the same alerts and workload conditions.</a:t>
            </a:r>
            <a:endParaRPr lang="en-US" sz="1700" dirty="0"/>
          </a:p>
        </p:txBody>
      </p:sp>
      <p:sp>
        <p:nvSpPr>
          <p:cNvPr id="22" name="Shape 16"/>
          <p:cNvSpPr/>
          <p:nvPr/>
        </p:nvSpPr>
        <p:spPr>
          <a:xfrm>
            <a:off x="6245352" y="3220934"/>
            <a:ext cx="5486400" cy="1508760"/>
          </a:xfrm>
          <a:prstGeom prst="rect">
            <a:avLst/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17"/>
          <p:cNvSpPr/>
          <p:nvPr/>
        </p:nvSpPr>
        <p:spPr>
          <a:xfrm>
            <a:off x="6473952" y="3586694"/>
            <a:ext cx="777240" cy="777240"/>
          </a:xfrm>
          <a:prstGeom prst="ellipse">
            <a:avLst/>
          </a:prstGeom>
          <a:solidFill>
            <a:srgbClr val="1F2A5C"/>
          </a:solidFill>
          <a:ln w="12700">
            <a:solidFill>
              <a:srgbClr val="1F2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4264" y="3797006"/>
            <a:ext cx="356616" cy="35661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434072" y="335809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F2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Evaluation evidence</a:t>
            </a:r>
            <a:endParaRPr lang="en-US" sz="2100" dirty="0"/>
          </a:p>
        </p:txBody>
      </p:sp>
      <p:sp>
        <p:nvSpPr>
          <p:cNvPr id="26" name="Text 19"/>
          <p:cNvSpPr txBox="1"/>
          <p:nvPr/>
        </p:nvSpPr>
        <p:spPr>
          <a:xfrm>
            <a:off x="7434072" y="3861014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GB" sz="1600" dirty="0"/>
              <a:t>Results showing whether workload-aware triage cuts analyst burden without more missed threats.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2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Thanks"/>
          <p:cNvSpPr txBox="1"/>
          <p:nvPr/>
        </p:nvSpPr>
        <p:spPr>
          <a:xfrm>
            <a:off x="0" y="2413000"/>
            <a:ext cx="12192000" cy="1270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</a:p>
        </p:txBody>
      </p:sp>
      <p:sp>
        <p:nvSpPr>
          <p:cNvPr id="11" name="Text Questions"/>
          <p:cNvSpPr txBox="1"/>
          <p:nvPr/>
        </p:nvSpPr>
        <p:spPr>
          <a:xfrm>
            <a:off x="0" y="3810000"/>
            <a:ext cx="12192000" cy="762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C9A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</a:p>
        </p:txBody>
      </p:sp>
      <p:pic>
        <p:nvPicPr>
          <p:cNvPr id="13" name="Copied Picture 13" descr="build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350" y="1016000"/>
            <a:ext cx="1003300" cy="1003300"/>
          </a:xfrm>
          <a:prstGeom prst="rect">
            <a:avLst/>
          </a:prstGeom>
        </p:spPr>
      </p:pic>
      <p:sp>
        <p:nvSpPr>
          <p:cNvPr id="3" name="Text 5">
            <a:extLst>
              <a:ext uri="{FF2B5EF4-FFF2-40B4-BE49-F238E27FC236}">
                <a16:creationId xmlns:a16="http://schemas.microsoft.com/office/drawing/2014/main" id="{BC1DA85A-CC9E-7786-1B40-18F1DD025693}"/>
              </a:ext>
            </a:extLst>
          </p:cNvPr>
          <p:cNvSpPr txBox="1"/>
          <p:nvPr/>
        </p:nvSpPr>
        <p:spPr>
          <a:xfrm>
            <a:off x="4551681" y="5966460"/>
            <a:ext cx="3088638" cy="678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B8C0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 Cybersecurity, FCSE, GIKI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01132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320FBE8-1273-48A3-BDAB-3B6F2FD94181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b0232b5-bceb-4c94-ade7-746bf6a0624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1482</Words>
  <Application>Microsoft Office PowerPoint</Application>
  <PresentationFormat>Widescreen</PresentationFormat>
  <Paragraphs>217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ARSS Title Defense</dc:title>
  <dc:subject>PptxGenJS Presentation</dc:subject>
  <dc:creator>PptxGenJS</dc:creator>
  <cp:lastModifiedBy>u2023406</cp:lastModifiedBy>
  <cp:revision>10</cp:revision>
  <dcterms:created xsi:type="dcterms:W3CDTF">2026-09-29T12:11:03Z</dcterms:created>
  <dcterms:modified xsi:type="dcterms:W3CDTF">2026-09-30T00:51:13Z</dcterms:modified>
</cp:coreProperties>
</file>